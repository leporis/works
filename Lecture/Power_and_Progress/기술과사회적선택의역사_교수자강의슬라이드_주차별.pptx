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청주교육대학교  |  예비 초등교사 세미나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교수자 강의 슬라이드 — 주차별 핵심 내용 정리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19050">
            <a:solidFill>
              <a:srgbClr val="C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『권력과 진보: 기술과 번영을 둘러싼 천년의 쟁투』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대런 아세모글루 · 사이먼 존슨 저  |  생각의힘, 2023  |  2024 노벨경제학상 수상자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1572768" cy="65836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 도입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76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03704" y="3456432"/>
            <a:ext cx="1572768" cy="65836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03704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 역사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03704" y="3776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3~6주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58768" y="3456432"/>
            <a:ext cx="1572768" cy="65836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58768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 디지털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58768" y="3776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7~8주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13832" y="3456432"/>
            <a:ext cx="1572768" cy="65836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13832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13832" y="3776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9~12주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68896" y="3456432"/>
            <a:ext cx="1572768" cy="65836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68896" y="34930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 종합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68896" y="3776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13~15주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슬라이드는 매주 0~15분 도입 강의용 자료입니다. 상세 수업지도안을 병행 활용하세요.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강의 구조 한눈에 보기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3840480"/>
        </p:xfrm>
        <a:graphic>
          <a:graphicData uri="http://schemas.openxmlformats.org/drawingml/2006/table">
            <a:tbl>
              <a:tblPr/>
              <a:tblGrid>
                <a:gridCol w="566928"/>
                <a:gridCol w="804672"/>
                <a:gridCol w="5394960"/>
                <a:gridCol w="1207008"/>
                <a:gridCol w="713232"/>
              </a:tblGrid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6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Ⅰ 도입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0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오리엔테이션 — 기술은 우리를 행복하게 하는가?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Ⅰ 도입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0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"기술 발전=진보"라는 신화 — 생산성 밴드왜건·비전 설정자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프롤로그+1장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Ⅱ 역사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농경혁명 — 기술→잉여→불평등의 구조적 패턴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Ⅱ 역사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설득 권력 — 비전은 어떻게 동의를 만드는가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Ⅱ 역사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산업혁명의 어두운 면 — 엥겔스의 일시정지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4장+5장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Ⅱ 역사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대항 권력의 형성 — 투쟁으로 쟁취한 진보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6장+7장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Ⅲ 디지털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 점검 — 중간 프로젝트 발표 &amp; 어항 토론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Ⅲ 디지털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디지털 피해 — 감시 자본주의와 주의경제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Ⅳ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2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AI와 인간 노동 — 대체인가, 보완인가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Ⅳ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2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AI와 교육 격차 — 디지털 디바이드와 에듀테크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9장심화+보충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Ⅳ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2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민주주의와 기술 — 가짜뉴스 시대의 공론장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Ⅳ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2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기술의 경로 재설정 — 3단계 해법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11장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Ⅴ 종합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비판적 서평 토론 — 이 책의 강점과 한계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서평 2편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Ⅴ 종합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프로젝트 발표 — 초등 수업 설계안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Ⅴ 종합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종합 성찰 — 기술 시대, 교사는 무엇을 해야 하는가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멘트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Ⅰ. 도입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오리엔테이션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기술은 우리를 행복하게 하는가?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(첫 수업)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2A6099">
              <a:alpha val="70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67128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교수자 역할: 강의 없음 — 분위기 조성·수업 안내 중심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4320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'기술 발전 = 진보'는 하나의 이데올로기다. 비판적 검토가 필요하다.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첫 수업의 인상이 15주를 결정한다. 강의보다 분위기 조성에 집중할 것.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1주차  |  Ⅰ. 도입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  —  교수자 역할 가이드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오리엔테이션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 수업 구조 및 평가 방법 안내 (토론 30% · 성찰일지 20% · 중간 20% · 에세이 30%)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 소개: 대런 아세모글루 (2024 노벨경제학상, MIT) · 사이먼 존슨 (전 IMF 수석 이코노미스트)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질문 제시: '기술의 방향은 누가 선택하는가?'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책의 핵심 논제 미리보기 3가지: ① 기술 발전≠자동적 진보  ② 기술의 방향은 사회적 선택  ③ 비전 설정자가 방향을 결정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그라운드 룰 공동 합의 (경청 우선·근거 제시·건설적 반론·패스 가능)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4626864"/>
            <a:ext cx="402336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6464" y="4626864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낙관주의(techno-optimism)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4626864"/>
            <a:ext cx="402336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2704" y="4626864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기술결정론(technological determinism)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Ⅰ. 도입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발전 = 진보"라는 신화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밴드왜건과 비전 설정자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 + 1장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기술은 중립적이지 않다. 방향은 항상 누군가의 비전을 반영하며, 그 비전은 권력 관계에서 나온다.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판서 핵심: 밴드왜건 작동 3조건 ← 이후 모든 역사 분석의 기준점으로 계속 활용됨.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2주차  |  Ⅰ. 도입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"기술 발전 = 진보"라는 신화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밴드왜건: 기술 혁신→생산성 향상→임금 상승→소비 확대의 선순환 구조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밴드왜건 작동 3대 조건: ① 새 업무·일자리 창출 (단순 대체 아님)  ② 노동자 교섭력 유지  ③ 재분배 제도적 장치 존재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비전(vision): '이 기술이 세상을 이렇게 바꿀 것이다'라는 지배적 서사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설정자(vision setter): 역사적으로 기술 방향을 결정한 소수 엘리트 — 고대 왕·사제 → 산업혁명기 공장주 → 현재 실리콘밸리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확신: 비전이 상식으로 굳어지면 비판이 구조적으로 차단됨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2A6099">
              <a:alpha val="60000"/>
            </a:srgbClr>
          </a:solidFill>
          <a:ln w="12700">
            <a:solidFill>
              <a:srgbClr val="2A6099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사례: 면화 조면기(노예제 강화), 중세 풍차·물레방아(잉여→영주·교회 귀속)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밴드왜건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비전(vision)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설정자(vision setter)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2A6099">
              <a:alpha val="75000"/>
            </a:srgbClr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비전의 과잉 확신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역사 속 기술과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농경혁명 — 최초의 기술이 만든 불평등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→ 잉여 → 불평등의 구조적 패턴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(운하의 비전)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농경혁명이 인류의 삶을 나아지게 했는가? 꼭 그렇지 않다. 잉여를 누가 차지하는가가 핵심이다.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시각 자료 활용 권장: 메소포타미아 관개 지도, 수에즈·파나마 운하 사진.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3주차  |  Ⅱ. 역사 속 기술과 권력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농경혁명 — 최초의 기술이 만든 불평등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농경혁명과 불평등의 기원: 관개 기술→식량 잉여→신전·궁전 엘리트가 잉여 독점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'기술→잉여→불평등' 구조적 패턴: 잉여를 누가 차지하느냐는 권력 관계가 결정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중세 유럽: 풍차·물레방아·삼포식 농법 혁신에도 잉여 대부분이 영주·교회에 귀속 — '농민의 노동이 성당의 첨탑이 됨'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페르디낭 드 레셉스와 수에즈 운하: 외부 비전 설정자가 현지인 동의 없이 대규모 프로젝트 추진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파나마 운하 비교: 혜택이 파나마 시민보다 미국 기업·정부에 귀속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강조: 이 패턴은 농경혁명~현재 AI까지 수천 년간 반복됨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기술→잉여→불평등 패턴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설정자의 역사적 사례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비전과 내부 피해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역사 속 기술과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권력 — 비전은 어떻게 동의를 만드는가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내러티브와 권력의 연결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 (설득 권력)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지배적 내러티브는 강제가 아니라 동의로 작동한다. 기술 낙관주의는 가장 강력한 현대적 설득 권력 중 하나다.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교육 연결 발문: '우리 교과서에서 기술을 어떻게 서술하고 있는가?' 예비 교사의 직접 경험과 연결.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4주차  |  Ⅱ. 역사 속 기술과 권력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권력 — 비전은 어떻게 동의를 만드는가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권력(persuasion power): 강제가 아닌 내러티브로 사회 구성원의 동의를 이끌어내는 권력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인쇄술(구텐베르크)의 역설: 처음엔 교회·군주가 독점하며 기존 권력 강화 → 이후 종교개혁·계몽주의·혁명의 대항 서사 가능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권력의 3단계: ① 비전 제시('이것이 미래다')  ② 동의 형성('이것이 상식이다')  ③ 비판 차단('반대는 시대착오다')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설득 권력 사례: '기술이 일자리를 없애도 새 일자리가 생긴다' / 'AI는 모든 것을 바꿀 것이다 → 저항은 무의미하다'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 설득 권력: 근대 공교육은 국가의 설득 권력 도구였음 — 현재 교과서도 기술을 특정 방향으로 서술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권력(persuasion power)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내러티브의 정치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인쇄술과 권력 변화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역사 속 기술과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산업혁명의 어두운 면 — 비참함의 육성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엥겔스의 일시정지와 착취적 기술 활용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 (비참함의 육성) + 5장 (중간 정도의 혁명)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비참함은 기술의 자연스러운 결과가 아니라 사회가 '육성한' 것이다. 같은 기술도 제도에 따라 전혀 다른 결과를 낳는다.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역할극 토론(1833년 영국 의회 재현)을 위해 공장주·노동자·어린이·정치인 역할 카드를 미리 준비할 것.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5주차  |  Ⅱ. 역사 속 기술과 권력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산업혁명의 어두운 면 — 비참함의 육성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엥겔스의 일시정지: 1780~1840년 영국, GDP는 성장했으나 노동자 실질 임금은 정체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원인: ① 대체형 기술(숙련 직조공→미숙련 아동·여성 노동)  ② 교섭력 붕괴  ③ 대항 권력 부재(노동조합 불법, 참정권 없음)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비참함의 실상: 5세 아동 하루 12~16시간 공장 노동, 탄광 갱도 어린이, 전염병 창궐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러다이트 운동 재평가: '기계 혐오'가 아니라 '생계를 파괴하는 기술 방향에 대한 정당한 저항'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미국식 산업화(5장): 노동력 부족 구조→보완형 기술 투자→밴드왜건 부분 작동, 그러나 흑인·이민자·여성은 배제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면화 조면기의 역설: 생산 효율화가 오히려 노예 노동 수요 증가로 이어짐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엥겔스의 일시정지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대체형 기술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미국식 제조 시스템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배제된 집단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Ⅱ. 역사 속 기술과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권력의 형성 — 투쟁으로 쟁취한 진보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공유된 번영의 시대는 어떻게 만들어졌는가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(진보의 피해자) + 7장 (투쟁으로 점철된 경로)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최저임금·8시간 노동·공교육은 저절로 주어진 것이 아니다. 모두 투쟁으로 쟁취한 결과다.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2~6주 핵심 논증인 '기술→권력→대항→제도 변화' 흐름을 포스터로 정리하는 활동 권장.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6주차  |  Ⅱ. 역사 속 기술과 권력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권력의 형성 — 투쟁으로 쟁취한 진보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권력(countervailing power): 지배적 권력에 맞서는 조직화된 시민사회·노동조합의 집합적 힘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 형성 4단계: ① 노동조합 합법화(영국 1871~)  ② 보통선거권 확대  ③ 사회보장 도입(비스마르크·뉴딜·영국 복지국가)  ④ 공교육 보편화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'공유된 번영의 시대(1870~1970)': 기술 발전의 혜택이 비교적 널리 공유된 100년 — 중산층 성장, 불평등 감소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메시지: 이것은 기술의 자연스러운 결과가 아니라 투쟁의 결과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6장의 핵심: '불가피한 희생'으로 피해자를 정당화하는 것이 설득 권력의 전형적 작동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2D6E3A"/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2D6E3A">
              <a:alpha val="60000"/>
            </a:srgbClr>
          </a:solidFill>
          <a:ln w="12700">
            <a:solidFill>
              <a:srgbClr val="2D6E3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무임승차 문제(free rider problem): 집합 행동의 비용은 참여자가 부담, 혜택은 비참여자도 향유 → 대항 권력 형성의 구조적 장벽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권력(countervailing power)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집합 행동(collective action)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무임승차 문제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2D6E3A">
              <a:alpha val="75000"/>
            </a:srgbClr>
          </a:solidFill>
          <a:ln w="12700">
            <a:solidFill>
              <a:srgbClr val="2D6E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공유된 번영의 시대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디지털 시대의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점검 — 천 년의 패턴을 정리하다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프로젝트 발표 &amp; 어항 토론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(전반부 복습)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0~10분 (도입만)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7A4E12">
              <a:alpha val="70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67128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교수자 역할: 강의 최소화 — 도입 판서 + 발표 진행자 역할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4320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역사는 반복된다. 기술은 스스로 좋아지지 않는다. 좋아지려면 사회적 선택이 필요하다.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중간 프로젝트 채점표와 어항 토론 배치도를 사전에 준비할 것.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7주차  |  Ⅲ. 디지털 시대의 권력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  —  교수자 역할 가이드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점검 — 천 년의 패턴을 정리하다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65760" cy="36576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868680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868680"/>
            <a:ext cx="82296" cy="621792"/>
          </a:xfrm>
          <a:prstGeom prst="rect">
            <a:avLst/>
          </a:prstGeom>
          <a:solidFill>
            <a:srgbClr val="7A4E12">
              <a:alpha val="65000"/>
            </a:srgbClr>
          </a:solidFill>
          <a:ln w="12700">
            <a:solidFill>
              <a:srgbClr val="7A4E12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9052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판서(5분): 전반부 핵심 논증 3가지 요약 → ① 기술 방향은 비전 설정자가 결정  ② 잉여를 누가 차지하느냐는 권력 문제  ③ 대항 권력 없이는 혜택이 소수에게 집중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609344"/>
            <a:ext cx="365760" cy="36576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1581912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1581912"/>
            <a:ext cx="82296" cy="621792"/>
          </a:xfrm>
          <a:prstGeom prst="rect">
            <a:avLst/>
          </a:prstGeom>
          <a:solidFill>
            <a:srgbClr val="7A4E12">
              <a:alpha val="65000"/>
            </a:srgbClr>
          </a:solidFill>
          <a:ln w="12700">
            <a:solidFill>
              <a:srgbClr val="7A4E12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6184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프로젝트 발표 진행: 모둠별 8분 발표 + 4분 질의응답, 동료 피드백 작성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322576"/>
            <a:ext cx="365760" cy="36576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2295144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2295144"/>
            <a:ext cx="82296" cy="621792"/>
          </a:xfrm>
          <a:prstGeom prst="rect">
            <a:avLst/>
          </a:prstGeom>
          <a:solidFill>
            <a:srgbClr val="7A4E12">
              <a:alpha val="65000"/>
            </a:srgbClr>
          </a:solidFill>
          <a:ln w="12700">
            <a:solidFill>
              <a:srgbClr val="7A4E12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어항 토론 핵심 질문: '천 년의 역사를 돌아보았을 때, 기술이 모두에게 이롭게 되는 조건은 무엇인가?'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035808"/>
            <a:ext cx="365760" cy="36576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008376"/>
            <a:ext cx="8138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008376"/>
            <a:ext cx="82296" cy="621792"/>
          </a:xfrm>
          <a:prstGeom prst="rect">
            <a:avLst/>
          </a:prstGeom>
          <a:solidFill>
            <a:srgbClr val="7A4E12">
              <a:alpha val="65000"/>
            </a:srgbClr>
          </a:solidFill>
          <a:ln w="12700">
            <a:solidFill>
              <a:srgbClr val="7A4E12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0449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후반부 예고: 8주차~디지털·AI 시대 — 동일 패턴의 현재적 반복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0" y="4626864"/>
            <a:ext cx="402336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26464" y="4626864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전반부 핵심 개념 종합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4626864"/>
            <a:ext cx="402336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4626864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기술-권력-대항 권력의 삼각 구도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Ⅲ. 디지털 시대의 권력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피해 — 감시와 주의경제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산업혁명이 21세기에 돌아왔다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(디지털 피해)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기술의 피해는 '비참함의 육성'과 구조적으로 동일하다. 착취의 방식만 달라졌을 뿐이다.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도입 전 체험 과제(알고리즘 기록) 공유 시간 확보. 학생의 실제 경험이 이 수업을 살아있게 만든다.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8주차  |  Ⅲ. 디지털 시대의 권력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피해 — 감시와 주의경제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주의경제(attention economy): 인간의 주의(attention)를 자원으로 추출·거래하는 경제 구조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 자본주의(surveillance capitalism, 주보프): 개인 데이터 수집·분석으로 행동을 예측·조종하려는 자본주의 형태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'무료 서비스'의 실제 비용: 우리의 데이터와 주의 — '우리는 소비자가 아니라 상품'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버블(filter bubble): 알고리즘이 선호 정보만 지속 노출 → 확증 편향 심화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매트릭스: 공장 노동력 착취↔플랫폼 데이터·주의 착취 / 아동 노동↔미성년 소셜미디어 / 노동 규제 없음↔스크린 타임 규제 없음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7A4E12"/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7A4E12">
              <a:alpha val="60000"/>
            </a:srgbClr>
          </a:solidFill>
          <a:ln w="12700">
            <a:solidFill>
              <a:srgbClr val="7A4E12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메시지: 알고리즘은 다르게 설계될 수 있다 — 이것은 기술의 불가피한 결과가 아니라 비즈니스 모델의 선택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주의경제(attention economy)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 자본주의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버블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7A4E12">
              <a:alpha val="75000"/>
            </a:srgbClr>
          </a:solidFill>
          <a:ln w="12700">
            <a:solidFill>
              <a:srgbClr val="7A4E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양극화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AI와 교육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인간 노동 — 대체인가, 보완인가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편향을 넘어선 선택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(인공 투쟁)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교사를 대체할 것인가, 보완할 것인가? 이것은 기술의 문제가 아니라 선택의 문제다.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핵심 발문: 'ChatGPT로 수업지도안을 만들 때, AI가 한 부분과 교사가 꼭 해야 할 부분은 어떻게 다른가?'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9주차  |  Ⅳ. AI와 교육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인간 노동 — 대체인가, 보완인가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편향(automation bias): 기업이 인건비 절감 위해 인간 노동을 대체하는 AI에 집중 투자하는 경향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발생 2가지 원인: ① 대체형 기술이 기업에 즉각적 이윤 제공(인건비 즉시 절감)  ② 실리콘밸리의 AGI 비전(인간 노동 가치 근본 부정)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보완 기술 대안: 의료(진단 보조), 교육(개별 상황 파악 지원), 제조(협업 로봇)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도요타 긍정 사례: 자동화+새로운 업무 창출 병행 → 미국과 달리 고용 상대적 유지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설정자의 문제: 현재 소수 빅테크·벤처 투자자가 독점 → 노동자·시민·교사의 목소리 반영 안됨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'AI가 모든 것을 바꿀 것이다 → 저항은 무의미하다 → 적응 못하면 당신 문제' = 3장 설득 권력의 현대적 형태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편향(automation bias)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보완 기술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 인공지능(AGI)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업무 창출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AI와 교육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교육 격차 — 모두를 위한 기술인가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에듀테크의 설득 권력과 디지털 디바이드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심화 + 보충 자료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도구는 자동으로 교육 평등을 실현하지 않는다. 누가, 어떻게, 어떤 목적으로 설계하느냐가 핵심이다.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갤러리 워크를 위해 전지·마커 사전 준비 필요.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10주차  |  Ⅳ. AI와 교육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교육 격차 — 모두를 위한 기술인가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디바이드(digital divide): 단순 기기 보유 격차를 넘어 '활용 역량의 격차'로 확대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에듀테크와 설득 권력: '모든 학생에게 동등한 기회를'이라는 내러티브 분석 — 진정한 비전인가, 마케팅 설득 권력인가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맞춤형 학습 도구의 역설: 디지털 역량 높은 가정의 학생이 더 잘 활용 → 기존 격차 확대 가능성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 AI 교육 투자 시 물어야 할 질문: 누가 설계하는가? 누구의 이익을 위한 것인가? 어떤 데이터가 수집되는가? 교사의 역할은?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갤러리 워크 활동 안내: 각 모둠이 '에듀테크 비판 분석' 포스터 제작·발표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맥락: 교육부 AI 교육 정책, 에듀테크 스타트업의 공교육 진입 현황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디바이드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에듀테크와 설득 권력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형평성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AI와 교육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민주주의와 기술 — 가짜뉴스 시대의 공론장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미디어는 민주주의를 강화하는가, 파괴하는가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(민주주의, 무너지다)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민주주의는 건강한 공론장 없이 작동하지 않는다. 오늘날 디지털 기술은 공론장을 파괴하고 있으며 이는 비즈니스 모델의 선택이다.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역할극 사전 역할 배정 공지 필요(1주 전). 역할 카드 4종 인쇄 준비.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11주차  |  Ⅳ. AI와 교육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민주주의와 기술 — 가짜뉴스 시대의 공론장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공론장(public sphere, 하버마스): 시민이 사회 문제에 대해 정보를 교환하고 합의를 도출하는 공적 공간 — 민주주의의 작동 조건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공론장 파괴 3가지 메커니즘: ① 알고리즘 양극화(분노·공포 콘텐츠 우선 노출→정치적 분열)  ② 필터 버블·반향실(echo chamber)  ③ 가짜뉴스(허위 정보가 진실보다 더 빠르게 확산)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감시 국가: 중국 사회 신용 시스템, 안면인식 기술 → 기술이 민주주의 대신 권위주의를 강화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메시지: 알고리즘은 다르게 설계될 수 있음 — 문제는 기술이 아니라 비즈니스 모델의 선택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학교와 공론장: 초등 교실은 '작은 공론장' — 교사는 학생이 합리적 정보로 판단하는 능력을 기르는 역할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 토론 안내: 학교 운영위원회의 'AI 기반 학생 행동 분석 시스템 도입' — 학부모·교사·기업·학생 역할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공론장(public sphere)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알고리즘 양극화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가짜뉴스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시민성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Ⅳ. AI와 교육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경로를 다시 잡기 — 우리에게는 선택권이 있다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 전환 → 대항 권력 → 정책 변화의 3단계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(테크놀로지의 경로를 다시 잡기)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4884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221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방향은 우리가 선택할 수 있다. 이 선택에 더 많은 사람이 참여하게 하는 것이 저자의 해법이다.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3872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이 강의 내용이 학생들의 '2035년 한국 초등학교 AI 활용 가이드라인' 정책 제안 워크숍의 이론적 근거가 됨.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12주차  |  Ⅳ. AI와 교육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12주차  —  강의 핵심 내용 (0~15분)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경로를 다시 잡기 — 우리에게는 선택권이 있다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재설정 3단계 해법: ① 내러티브·규범 변화 → ② 대항 권력 형성 → ③ 정책적 해법 마련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— 내러티브 전환: '기술은 불가피→적응이 합리적'에서 '기술 방향은 선택할 수 있다→그 선택은 사회 전체가 해야 한다'로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 전환 사례: 레이첼 카슨 『침묵의 봄』(1962) — 환경운동의 시작 → '경제 성장 최우선'에서 '환경도 경제만큼 중요하다'로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— 대항 권력 형성: 환경운동(녹색당·그린피스·WWF)처럼 AI/기술 분야의 시민사회·노동조합·전문가 집단 조직화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— 정책 5가지: ① 반독점 강화  ② 알고리즘 투명성 규제  ③ 데이터 세금  ④ AI 노동 영향 평가 의무화  ⑤ 공공 AI 연구 확대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6B3280"/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6B3280">
              <a:alpha val="60000"/>
            </a:srgbClr>
          </a:solidFill>
          <a:ln w="12700">
            <a:solidFill>
              <a:srgbClr val="6B328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'규제'와 '경로 재설정'의 차이: 규제=나쁜 기술을 억제, 재설정=더 좋은 방향을 적극적으로 만드는 것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내러티브 전환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58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 형성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7784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포용적 AI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4626864"/>
            <a:ext cx="1920240" cy="429768"/>
          </a:xfrm>
          <a:prstGeom prst="rect">
            <a:avLst/>
          </a:prstGeom>
          <a:solidFill>
            <a:srgbClr val="6B3280">
              <a:alpha val="75000"/>
            </a:srgbClr>
          </a:solidFill>
          <a:ln w="12700">
            <a:solidFill>
              <a:srgbClr val="6B3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5824" y="462686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민주적 기술 거버넌스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종합과 실천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서평 토론 — 이 책의 강점과 한계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 있는 주장도 비판적으로 읽을 수 있다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(전체 복습) + 서평 2편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8B2020">
              <a:alpha val="70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67128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교수자 역할: 강의 없음 — 토론 진행자·심화 질문자 역할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4320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권위 있는 학자의 주장도 비판적으로 평가할 수 있다. 비판적 독서는 책을 더 깊이 이해하는 방법이다.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사전에 찬반 진영 배정(LMS 공지). 자신의 실제 의견과 다른 진영을 맡아도 됨을 미리 안내할 것.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13주차  |  Ⅴ. 종합과 실천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13주차  —  교수자 역할 가이드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비판적 서평 토론 — 이 책의 강점과 한계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멘티미터 별점 분포 공개로 시작 → 왜 이 점수를 주었는지 자유 발언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찬반 대토론 진행: '이 책의 주장은 설득력 있는가?' (교수자는 중재자 역할)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질문 준비: 긍정 진영에게 '서구 중심주의 비판에 어떻게 반응?'  비판 진영에게 '이 책의 가장 큰 강점은?'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토론 주제 진행: ① 서구 중심주의  ② 생성형 AI 이후 현실 비교  ③ 다루지 못한 주제(환경·젠더·글로벌 사우스)  ④ 예비 교사 필독서 여부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멘트: '이 책은 완벽한가? 아니다. 하지만 중요한가? 그렇다. 우리가 배운 것은 비판적으로 읽는 방법이기도 하다'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서구 중심주의 비판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이후 현실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프레임의 확장 가능성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종합과 실천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프로젝트 발표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『권력과 진보』 기반 초등 수업 설계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(발표 주차)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8B2020">
              <a:alpha val="70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67128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교수자 역할: 강의 없음 — 진행자·평가자 역할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4320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12주간 배운 이론적 지식을 실제 초등 교육 현장에 적용하는 통합적 수행 평가.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교수자 피드백 메모를 미리 준비. 채점표를 발표 중에 기록할 수 있도록 준비할 것.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14주차  |  Ⅴ. 종합과 실천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 —  교수자 역할 가이드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프로젝트 발표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오프닝: '오늘은 여러분이 교수자이고, 저는 여러분의 수업을 배우는 입장입니다'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규칙 안내: 15분 발표 + 5분 질의응답, 동료 평가 루브릭(4기준×5점) 작성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교수자 역할: 타이머 관리, 각 발표의 핵심 특징 판서 메모, 질의응답 시 학생 질문 격려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준비된 질문: '어려웠던 점은?' / '실제로 이 수업을 하게 된다면 가장 걱정되는 부분은?'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총평: 공통 강점 + 공통 개선점 + 특히 인상 깊었던 아이디어 구체적 언급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73168" y="2249424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93792" y="2221992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21808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마무리: '오늘 발표를 보면서 정말 좋은 교사들이 될 것이라는 확신이 생겼습니다'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초등 수업 설계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재해석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효능감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18288" y="457200"/>
            <a:ext cx="3017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Ⅴ. 종합과 실천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"/>
            <a:ext cx="914400" cy="91440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성찰 — 기술 시대, 교사는 무엇을 해야 하는가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00200" y="9875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15주의 여정을 마치며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8321040" cy="0"/>
          </a:xfrm>
          <a:prstGeom prst="line">
            <a:avLst/>
          </a:prstGeom>
          <a:noFill/>
          <a:ln w="12700">
            <a:solidFill>
              <a:srgbClr val="C89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읽기 범위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(최종 에세이 제출)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536192"/>
            <a:ext cx="374904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강의 시간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3168" y="17373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멘트만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8B2020">
              <a:alpha val="70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67128"/>
            <a:ext cx="7827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교수자 역할: 강의 없음 — 어항 토론 진행자 + 최종 마무리 멘트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C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43200"/>
            <a:ext cx="201168" cy="128016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8163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핵심 메시지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3081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방향은 우리가 선택한다. 교사는 그 선택에 매일 참여하는 사람이다.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33088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D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교수자 팁:  편지 쓰기 중 잔잔한 배경 음악 준비 권장. 교수자의 진심 어린 마무리 멘트가 가장 중요하다.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 사회적 선택의 역사  |  15주차  |  Ⅴ. 종합과 실천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15주차  —  교수자 역할 가이드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성찰 — 기술 시대, 교사는 무엇을 해야 하는가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도입: 15주 워드클라우드 공유, 핵심 질문 제시 — 'AI 시대, 교사는 기술의 전달자인가, 비판자인가, 제3의 역할인가?'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56032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어항 토론 심화 질문: '전달자와 비판자 사이 균형점은?' / '이 수업이 없었다면 이 질문에 어떻게 답했을까?' / '교사가 된 첫 해에 어떻게 실천할까?'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" y="2221992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" y="2221992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24942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어항 토론 후 정리: '세 입장이 서로 배타적이지 않을 수도 있습니다'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73168" y="89611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93792" y="868680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93792" y="868680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8961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편지 쓰기 안내: '5년 후의 교사인 나에게' (15분 침묵 작성), 자발적 성찰 나눔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545336"/>
            <a:ext cx="400507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93792" y="1545336"/>
            <a:ext cx="64008" cy="585216"/>
          </a:xfrm>
          <a:prstGeom prst="rect">
            <a:avLst/>
          </a:prstGeom>
          <a:solidFill>
            <a:srgbClr val="8B2020">
              <a:alpha val="60000"/>
            </a:srgbClr>
          </a:solidFill>
          <a:ln w="12700">
            <a:solidFill>
              <a:srgbClr val="8B202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5727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마무리 판서: '기술의 방향은 사회적 선택 / 우리는 더 나은 선택을 할 수 있다 / 조건: 더 많은 사람들이 비전 형성에 참여 / 여러분은 이제 그 사람들의 일부입니다'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628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 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37160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2646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교사의 역할 정체성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7576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062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기술의 방향은 선택이다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79920" y="4626864"/>
            <a:ext cx="2621280" cy="429768"/>
          </a:xfrm>
          <a:prstGeom prst="rect">
            <a:avLst/>
          </a:prstGeom>
          <a:solidFill>
            <a:srgbClr val="8B2020">
              <a:alpha val="75000"/>
            </a:srgbClr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4784" y="4626864"/>
            <a:ext cx="2511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대항 권력의 교실 버전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기술과 사회적 선택의 역사 — 교수자 강의 슬라이드</dc:title>
  <dc:subject>PptxGenJS Presentation</dc:subject>
  <dc:creator>PptxGenJS</dc:creator>
  <cp:lastModifiedBy>PptxGenJS</cp:lastModifiedBy>
  <cp:revision>1</cp:revision>
  <dcterms:created xsi:type="dcterms:W3CDTF">2026-02-18T15:01:03Z</dcterms:created>
  <dcterms:modified xsi:type="dcterms:W3CDTF">2026-02-18T15:01:03Z</dcterms:modified>
</cp:coreProperties>
</file>