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645920"/>
            <a:ext cx="6400800" cy="64008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548640"/>
            <a:ext cx="4114800" cy="4114800"/>
          </a:xfrm>
          <a:prstGeom prst="ellipse">
            <a:avLst/>
          </a:prstGeom>
          <a:solidFill>
            <a:srgbClr val="2A6099">
              <a:alpha val="15000"/>
            </a:srgbClr>
          </a:solidFill>
          <a:ln w="12700">
            <a:solidFill>
              <a:srgbClr val="2A6099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82880"/>
            <a:ext cx="2286000" cy="2286000"/>
          </a:xfrm>
          <a:prstGeom prst="ellipse">
            <a:avLst/>
          </a:prstGeom>
          <a:solidFill>
            <a:srgbClr val="C8973A">
              <a:alpha val="12000"/>
            </a:srgbClr>
          </a:solidFill>
          <a:ln w="12700">
            <a:solidFill>
              <a:srgbClr val="C8973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64592"/>
            <a:ext cx="1005840" cy="100584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1645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오리엔테이션 — 기술은 우리를 행복하게 하는가?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1664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『권력과 진보: 기술과 번영을 둘러싼 천년의 쟁투』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대런 아세모글루 · 사이먼 존슨  |  생각의힘, 2023  |  2024 노벨경제학상 수상자 저작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8412480" cy="1115568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40864"/>
            <a:ext cx="182880" cy="111556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95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핵심 질문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67919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발전은 곧 진보인가?  기술이 모두를 위한 것이 되려면 교육은 무엇을 해야 하는가?"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5580">
              <a:alpha val="70000"/>
            </a:srgbClr>
          </a:solidFill>
          <a:ln w="12700">
            <a:solidFill>
              <a:srgbClr val="5BA3D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739896"/>
            <a:ext cx="128016" cy="12801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844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세미나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87168" y="35844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5580">
              <a:alpha val="70000"/>
            </a:srgbClr>
          </a:solidFill>
          <a:ln w="12700">
            <a:solidFill>
              <a:srgbClr val="5BA3D9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3739896"/>
            <a:ext cx="128016" cy="128016"/>
          </a:xfrm>
          <a:prstGeom prst="ellipse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5844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예비 초등교사 대상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08576" y="35844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5580">
              <a:alpha val="70000"/>
            </a:srgbClr>
          </a:solidFill>
          <a:ln w="12700">
            <a:solidFill>
              <a:srgbClr val="5BA3D9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3739896"/>
            <a:ext cx="128016" cy="128016"/>
          </a:xfrm>
          <a:prstGeom prst="ellipse">
            <a:avLst/>
          </a:prstGeom>
          <a:solidFill>
            <a:srgbClr val="F0D9A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5844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중심 수업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9984" y="35844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5580">
              <a:alpha val="70000"/>
            </a:srgbClr>
          </a:solidFill>
          <a:ln w="12700">
            <a:solidFill>
              <a:srgbClr val="5BA3D9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94576" y="3739896"/>
            <a:ext cx="128016" cy="128016"/>
          </a:xfrm>
          <a:prstGeom prst="ellipse">
            <a:avLst/>
          </a:prstGeom>
          <a:solidFill>
            <a:srgbClr val="3575B5"/>
          </a:solidFill>
          <a:ln w="12700">
            <a:solidFill>
              <a:srgbClr val="3575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35844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단행본 완독 세미나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133088"/>
            <a:ext cx="9144000" cy="621792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4223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환영합니다! 오늘은 이 수업에서 15주를 함께 보낼 여러분과 처음 만나는 날입니다. 편안하게 시작해 봅시다.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일정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수업 흐름 (120분)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91440" cy="5212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80160"/>
            <a:ext cx="1234440" cy="329184"/>
          </a:xfrm>
          <a:prstGeom prst="rect">
            <a:avLst/>
          </a:prstGeom>
          <a:solidFill>
            <a:srgbClr val="2A6099">
              <a:alpha val="15000"/>
            </a:srgbClr>
          </a:solidFill>
          <a:ln w="12700">
            <a:solidFill>
              <a:srgbClr val="2A609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20분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0512" y="1280160"/>
            <a:ext cx="256032" cy="25603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243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안내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4813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과정 소개, 평가 방법, 교재 안내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8503920" cy="521208"/>
          </a:xfrm>
          <a:prstGeom prst="rect">
            <a:avLst/>
          </a:prstGeom>
          <a:solidFill>
            <a:srgbClr val="F0F5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83080"/>
            <a:ext cx="91440" cy="521208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874520"/>
            <a:ext cx="1234440" cy="329184"/>
          </a:xfrm>
          <a:prstGeom prst="rect">
            <a:avLst/>
          </a:prstGeom>
          <a:solidFill>
            <a:srgbClr val="1A7A82">
              <a:alpha val="15000"/>
            </a:srgbClr>
          </a:solidFill>
          <a:ln w="12700">
            <a:solidFill>
              <a:srgbClr val="1A7A82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745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40분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10512" y="1874520"/>
            <a:ext cx="256032" cy="256032"/>
          </a:xfrm>
          <a:prstGeom prst="ellipse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837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아이스브레이커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075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변화 타임라인" — 포스트잇을 연도순으로 칠판에 붙이기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77440"/>
            <a:ext cx="91440" cy="5212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468880"/>
            <a:ext cx="1234440" cy="329184"/>
          </a:xfrm>
          <a:prstGeom prst="rect">
            <a:avLst/>
          </a:prstGeom>
          <a:solidFill>
            <a:srgbClr val="2D7A3A">
              <a:alpha val="15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468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70분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10512" y="2468880"/>
            <a:ext cx="256032" cy="25603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인식 토론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26700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삶에 대한 나의 생각을 자유롭게 나눠 봅시다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8503920" cy="521208"/>
          </a:xfrm>
          <a:prstGeom prst="rect">
            <a:avLst/>
          </a:prstGeom>
          <a:solidFill>
            <a:srgbClr val="F0F5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971800"/>
            <a:ext cx="91440" cy="521208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3063240"/>
            <a:ext cx="1234440" cy="329184"/>
          </a:xfrm>
          <a:prstGeom prst="rect">
            <a:avLst/>
          </a:prstGeom>
          <a:solidFill>
            <a:srgbClr val="5A3090">
              <a:alpha val="15000"/>
            </a:srgbClr>
          </a:solidFill>
          <a:ln w="12700">
            <a:solidFill>
              <a:srgbClr val="5A309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632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100분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10512" y="3063240"/>
            <a:ext cx="256032" cy="256032"/>
          </a:xfrm>
          <a:prstGeom prst="ellipse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 · 교재 소개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32644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아세모글루·존슨 소개, 책의 핵심 논제 미리보기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566160"/>
            <a:ext cx="91440" cy="521208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3657600"/>
            <a:ext cx="1234440" cy="329184"/>
          </a:xfrm>
          <a:prstGeom prst="rect">
            <a:avLst/>
          </a:prstGeom>
          <a:solidFill>
            <a:srgbClr val="C47A0A">
              <a:alpha val="15000"/>
            </a:srgbClr>
          </a:solidFill>
          <a:ln w="12700">
            <a:solidFill>
              <a:srgbClr val="C47A0A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6576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115분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10512" y="3657600"/>
            <a:ext cx="256032" cy="256032"/>
          </a:xfrm>
          <a:prstGeom prst="ellipse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구성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3858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4인 1조 학기 모둠 편성 + 역할 분담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160520"/>
            <a:ext cx="8503920" cy="521208"/>
          </a:xfrm>
          <a:prstGeom prst="rect">
            <a:avLst/>
          </a:prstGeom>
          <a:solidFill>
            <a:srgbClr val="F0F5FC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160520"/>
            <a:ext cx="91440" cy="521208"/>
          </a:xfrm>
          <a:prstGeom prst="rect">
            <a:avLst/>
          </a:prstGeom>
          <a:solidFill>
            <a:srgbClr val="7A8EA5"/>
          </a:solidFill>
          <a:ln w="12700">
            <a:solidFill>
              <a:srgbClr val="7A8E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251960"/>
            <a:ext cx="1234440" cy="329184"/>
          </a:xfrm>
          <a:prstGeom prst="rect">
            <a:avLst/>
          </a:prstGeom>
          <a:solidFill>
            <a:srgbClr val="7A8EA5">
              <a:alpha val="15000"/>
            </a:srgbClr>
          </a:solidFill>
          <a:ln w="12700">
            <a:solidFill>
              <a:srgbClr val="7A8EA5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2519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– 120분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10512" y="4251960"/>
            <a:ext cx="256032" cy="256032"/>
          </a:xfrm>
          <a:prstGeom prst="ellipse">
            <a:avLst/>
          </a:prstGeom>
          <a:solidFill>
            <a:srgbClr val="7A8EA5"/>
          </a:solidFill>
          <a:ln w="12700">
            <a:solidFill>
              <a:srgbClr val="7A8E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48840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828800" y="44531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읽기 과제 배정 (프롤로그 + 1장)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소개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여정 한눈에 보기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0934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609344" cy="93268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2176272"/>
            <a:ext cx="128016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오리엔테이션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기술 발전 = 진보?라는 신화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93392" y="1170432"/>
            <a:ext cx="160934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1170432"/>
            <a:ext cx="1609344" cy="93268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170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93392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3~6주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 속 기술과 권력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57984" y="2176272"/>
            <a:ext cx="128016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농경혁명과 불평등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84832" y="27249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설득 권력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84832" y="32004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산업혁명의 어두운 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4832" y="367588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대항 권력 형성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66744" y="1170432"/>
            <a:ext cx="160934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66744" y="1170432"/>
            <a:ext cx="1609344" cy="93268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1170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66744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7~8주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39896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시대의 권력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31336" y="2176272"/>
            <a:ext cx="128016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8184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중간 점검 &amp; 프로젝트 발표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58184" y="27249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감시 자본주의·주의경제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40096" y="1170432"/>
            <a:ext cx="160934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0096" y="1170432"/>
            <a:ext cx="1609344" cy="93268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0096" y="1170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0096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9~12주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13248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3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교육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504688" y="2176272"/>
            <a:ext cx="128016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31536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AI와 인간 노동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31536" y="27249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AI와 교육 격차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31536" y="32004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민주주의와 기술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31536" y="3675888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경로 재설정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13448" y="1170432"/>
            <a:ext cx="160934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13448" y="1170432"/>
            <a:ext cx="1609344" cy="93268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13448" y="11704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013448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13~15주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1764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종합과 실천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178040" y="2176272"/>
            <a:ext cx="1280160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04888" y="224942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비판적 서평 토론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04888" y="272491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최종 프로젝트 발표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04888" y="320040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종합 성찰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" y="4736592"/>
            <a:ext cx="8503920" cy="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 소개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교재: 『권력과 진보』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474720" cy="3520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347472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『권력과 진보』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번영을 둘러싼 천년의 쟁투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20040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042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4440" y="2304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대런 아세모글루 · 사이먼 존슨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7340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27340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생각의힘 (2023)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1638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Progress (2023)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5935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34440" y="35935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노벨경제학상 수상자 저작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0233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735쪽 (전 11장 + 프롤로그)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1170432"/>
            <a:ext cx="24505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0" y="1170432"/>
            <a:ext cx="2450592" cy="47548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170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대런 아세모글루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144475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Daron Acemoglu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691640"/>
            <a:ext cx="804672" cy="804672"/>
          </a:xfrm>
          <a:prstGeom prst="ellipse">
            <a:avLst/>
          </a:prstGeom>
          <a:solidFill>
            <a:srgbClr val="2A6099">
              <a:alpha val="15000"/>
            </a:srgbClr>
          </a:solidFill>
          <a:ln w="12700">
            <a:solidFill>
              <a:srgbClr val="2A6099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828800"/>
            <a:ext cx="621792" cy="530352"/>
          </a:xfrm>
          <a:prstGeom prst="ellipse">
            <a:avLst/>
          </a:prstGeom>
          <a:solidFill>
            <a:srgbClr val="2A6099">
              <a:alpha val="4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606040"/>
            <a:ext cx="2267712" cy="384048"/>
          </a:xfrm>
          <a:prstGeom prst="roundRect">
            <a:avLst>
              <a:gd name="adj" fmla="val 11905"/>
            </a:avLst>
          </a:prstGeom>
          <a:solidFill>
            <a:srgbClr val="2A6099">
              <a:alpha val="10000"/>
            </a:srgbClr>
          </a:solidFill>
          <a:ln w="12700">
            <a:solidFill>
              <a:srgbClr val="2A6099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7952" y="26060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경제학과 교수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3081528"/>
            <a:ext cx="2267712" cy="384048"/>
          </a:xfrm>
          <a:prstGeom prst="roundRect">
            <a:avLst>
              <a:gd name="adj" fmla="val 11905"/>
            </a:avLst>
          </a:prstGeom>
          <a:solidFill>
            <a:srgbClr val="2A6099">
              <a:alpha val="10000"/>
            </a:srgbClr>
          </a:solidFill>
          <a:ln w="12700">
            <a:solidFill>
              <a:srgbClr val="2A6099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7952" y="30815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노벨경제학상 수상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3630168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『국가는 왜 실패하는가』 공저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포용적 제도와 경제 성장 연구의 권위자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01968" y="1170432"/>
            <a:ext cx="245059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01968" y="1170432"/>
            <a:ext cx="2450592" cy="475488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1170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사이먼 존슨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93408" y="144475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Johnson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24928" y="1691640"/>
            <a:ext cx="804672" cy="804672"/>
          </a:xfrm>
          <a:prstGeom prst="ellipse">
            <a:avLst/>
          </a:prstGeom>
          <a:solidFill>
            <a:srgbClr val="1A7A82">
              <a:alpha val="15000"/>
            </a:srgbClr>
          </a:solidFill>
          <a:ln w="12700">
            <a:solidFill>
              <a:srgbClr val="1A7A82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16368" y="1828800"/>
            <a:ext cx="621792" cy="530352"/>
          </a:xfrm>
          <a:prstGeom prst="ellipse">
            <a:avLst/>
          </a:prstGeom>
          <a:solidFill>
            <a:srgbClr val="1A7A82">
              <a:alpha val="40000"/>
            </a:srgbClr>
          </a:solidFill>
          <a:ln w="12700">
            <a:solidFill>
              <a:srgbClr val="1A7A82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2606040"/>
            <a:ext cx="2267712" cy="384048"/>
          </a:xfrm>
          <a:prstGeom prst="roundRect">
            <a:avLst>
              <a:gd name="adj" fmla="val 11905"/>
            </a:avLst>
          </a:prstGeom>
          <a:solidFill>
            <a:srgbClr val="1A7A82">
              <a:alpha val="10000"/>
            </a:srgbClr>
          </a:solidFill>
          <a:ln w="12700">
            <a:solidFill>
              <a:srgbClr val="1A7A82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26060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슬론 경영대학원 교수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3081528"/>
            <a:ext cx="2267712" cy="384048"/>
          </a:xfrm>
          <a:prstGeom prst="roundRect">
            <a:avLst>
              <a:gd name="adj" fmla="val 11905"/>
            </a:avLst>
          </a:prstGeom>
          <a:solidFill>
            <a:srgbClr val="1A7A82">
              <a:alpha val="10000"/>
            </a:srgbClr>
          </a:solidFill>
          <a:ln w="12700">
            <a:solidFill>
              <a:srgbClr val="1A7A82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0815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IMF 수석 이코노미스트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93408" y="3630168"/>
            <a:ext cx="226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위기·산업 정책 전문가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기술·민주주의 상호작용 연구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안내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 (100점 만점)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551176" cy="34747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1216" y="1170432"/>
            <a:ext cx="1700784" cy="34747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1704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1700784" cy="347472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704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2784" y="1170432"/>
            <a:ext cx="2551176" cy="34747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117043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627632"/>
            <a:ext cx="20299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27632"/>
            <a:ext cx="2029968" cy="7315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178308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2A6099">
              <a:alpha val="25000"/>
            </a:srgbClr>
          </a:solidFill>
          <a:ln w="12700">
            <a:solidFill>
              <a:srgbClr val="2A6099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968" y="2212848"/>
            <a:ext cx="896112" cy="347472"/>
          </a:xfrm>
          <a:prstGeom prst="rect">
            <a:avLst/>
          </a:prstGeom>
          <a:solidFill>
            <a:srgbClr val="2A6099">
              <a:alpha val="92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212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" y="2615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참여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99232"/>
            <a:ext cx="1664208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토론 참여도, 텍스트 활용, 비판적 사고, 상호작용, 교육 연결 4가지 기준으로 평가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1627632"/>
            <a:ext cx="20299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68880" y="1627632"/>
            <a:ext cx="2029968" cy="7315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26664" y="178308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A7A82">
              <a:alpha val="25000"/>
            </a:srgbClr>
          </a:solidFill>
          <a:ln w="12700">
            <a:solidFill>
              <a:srgbClr val="1A7A82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26664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35808" y="2212848"/>
            <a:ext cx="896112" cy="347472"/>
          </a:xfrm>
          <a:prstGeom prst="rect">
            <a:avLst/>
          </a:prstGeom>
          <a:solidFill>
            <a:srgbClr val="1A7A82">
              <a:alpha val="92000"/>
            </a:srgbClr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2212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42032" y="2615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성찰일지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999232"/>
            <a:ext cx="1664208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063240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후 48시간 이내 A4 1쪽 제출. 공감 문장, 입장 변화, 교사로서의 의미, 다음 주 질문 포함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1627632"/>
            <a:ext cx="20299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627632"/>
            <a:ext cx="2029968" cy="73152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5504" y="178308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5A3090">
              <a:alpha val="25000"/>
            </a:srgbClr>
          </a:solidFill>
          <a:ln w="12700">
            <a:solidFill>
              <a:srgbClr val="5A3090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75504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84648" y="2212848"/>
            <a:ext cx="896112" cy="347472"/>
          </a:xfrm>
          <a:prstGeom prst="rect">
            <a:avLst/>
          </a:prstGeom>
          <a:solidFill>
            <a:srgbClr val="5A3090">
              <a:alpha val="92000"/>
            </a:srgbClr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2212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90872" y="2615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프로젝트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2999232"/>
            <a:ext cx="1664208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063240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 발표. 1~6주 학습 내용을 바탕으로 모둠별로 탐구 주제를 선정하여 발표 (8분)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6560" y="1627632"/>
            <a:ext cx="20299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1627632"/>
            <a:ext cx="2029968" cy="7315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24344" y="178308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2D7A3A">
              <a:alpha val="25000"/>
            </a:srgbClr>
          </a:solidFill>
          <a:ln w="12700">
            <a:solidFill>
              <a:srgbClr val="2D7A3A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24344" y="17830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에세이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33488" y="2212848"/>
            <a:ext cx="896112" cy="347472"/>
          </a:xfrm>
          <a:prstGeom prst="rect">
            <a:avLst/>
          </a:prstGeom>
          <a:solidFill>
            <a:srgbClr val="2D7A3A">
              <a:alpha val="92000"/>
            </a:srgbClr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3488" y="2212848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39712" y="2615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에세이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49440" y="2999232"/>
            <a:ext cx="1664208" cy="0"/>
          </a:xfrm>
          <a:prstGeom prst="line">
            <a:avLst/>
          </a:prstGeom>
          <a:noFill/>
          <a:ln w="12700">
            <a:solidFill>
              <a:srgbClr val="E0E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3063240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15주차 마감. "『권력과 진보』가 미래 초등교사인 나에게 던지는 메시지" A4 5쪽 (참고문헌 별도)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흐름 (120분)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020470" cy="502920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0510" y="1170432"/>
            <a:ext cx="680314" cy="502920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0824" y="1170432"/>
            <a:ext cx="3911803" cy="50292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0824" y="1170432"/>
            <a:ext cx="3911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32627" y="1170432"/>
            <a:ext cx="2125980" cy="502920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32627" y="1170432"/>
            <a:ext cx="21259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58607" y="1170432"/>
            <a:ext cx="680314" cy="502920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160934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1609344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15분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" y="20299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강의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" y="2286000"/>
            <a:ext cx="1463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주 핵심 개념과 읽기 내용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93392" y="1783080"/>
            <a:ext cx="160934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93392" y="1783080"/>
            <a:ext cx="1609344" cy="43891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8256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25분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48256" y="20299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과제 공유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66544" y="2286000"/>
            <a:ext cx="1463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2인 1조 또는 모둠 내 나눔 (공감 문장·질문 교환)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66744" y="1783080"/>
            <a:ext cx="160934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66744" y="1783080"/>
            <a:ext cx="1609344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21608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80분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21608" y="20299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토론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39896" y="2286000"/>
            <a:ext cx="1463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토론 유형으로 운영 (소크라테스 세미나·역할극·찬반 등)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0096" y="1783080"/>
            <a:ext cx="160934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0096" y="1783080"/>
            <a:ext cx="1609344" cy="438912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110분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20299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활동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13248" y="2286000"/>
            <a:ext cx="1463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활동·시뮬레이션·개념 매핑·갤러리 워크 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13448" y="1783080"/>
            <a:ext cx="160934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13448" y="1783080"/>
            <a:ext cx="1609344" cy="438912"/>
          </a:xfrm>
          <a:prstGeom prst="rect">
            <a:avLst/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– 120분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68312" y="20299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및 성찰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86600" y="2286000"/>
            <a:ext cx="1463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정리 + 다음 주 안내 + 성찰일지 안내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아이스브레이커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활동: 기술 변화 타임라인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029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029200" cy="457200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방법 (20분)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739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029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포스트잇과 마커를 받으세요.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4871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743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삶에서 기술이 가장 큰 변화를 만든 순간" 3가지를 각각 포스트잇 1장에 적으세요.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연도 + 기술 이름 + 어떤 변화였는지 한 줄로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2004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붙이기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456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칠판의 타임라인에 연도 순서에 맞게 붙여 주세요.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384048" cy="384048"/>
          </a:xfrm>
          <a:prstGeom prst="ellipse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9136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4169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칠판을 함께 바라보며 — 어떤 패턴이 보이나요?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언제 가장 많이 몰려 있나요? 어떤 기술이 자주 등장하나요?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170432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1170432"/>
            <a:ext cx="3246120" cy="457200"/>
          </a:xfrm>
          <a:prstGeom prst="rect">
            <a:avLst/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17043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포스트잇 예시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87568" y="1719072"/>
            <a:ext cx="3035808" cy="786384"/>
          </a:xfrm>
          <a:prstGeom prst="rect">
            <a:avLst/>
          </a:prstGeom>
          <a:solidFill>
            <a:srgbClr val="FFFAB5"/>
          </a:solidFill>
          <a:ln w="12700">
            <a:solidFill>
              <a:srgbClr val="D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79008" y="175564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2007년 — 아이폰 출시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79008" y="202996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어디서나 인터넷 연결 → 정보 검색 방식 완전히 바뀜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87568" y="2633472"/>
            <a:ext cx="3035808" cy="786384"/>
          </a:xfrm>
          <a:prstGeom prst="rect">
            <a:avLst/>
          </a:prstGeom>
          <a:solidFill>
            <a:srgbClr val="B5F5E0"/>
          </a:solidFill>
          <a:ln w="12700">
            <a:solidFill>
              <a:srgbClr val="D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79008" y="267004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2016년 — 카카오페이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79008" y="294436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지갑 없이 결제 가능 → 현금 거의 안 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87568" y="3547872"/>
            <a:ext cx="3035808" cy="786384"/>
          </a:xfrm>
          <a:prstGeom prst="rect">
            <a:avLst/>
          </a:prstGeom>
          <a:solidFill>
            <a:srgbClr val="F5D0B5"/>
          </a:solidFill>
          <a:ln w="12700">
            <a:solidFill>
              <a:srgbClr val="D8D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79008" y="358444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— ChatGPT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79008" y="3858768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글쓰기·검색 방식 변화 → 공부하는 방법이 달라짐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인식 탐색 토론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기술에 대한 나의 솔직한 생각을 자유롭게 이야기해 봅시다 — 정답은 없습니다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078992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64592" cy="107899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15568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A6099">
              <a:alpha val="80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155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[이동] 스펙트럼 토론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40817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"스마트폰이 등장한 이후 나의 삶은 전반적으로 더 나아졌다"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교실 한쪽 벽은 '매우 동의', 반대쪽은 '매우 비동의'.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자신의 입장에 맞는 곳에 서서 이유를 말해보세요.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8503920" cy="1078992"/>
          </a:xfrm>
          <a:prstGeom prst="rect">
            <a:avLst/>
          </a:prstGeom>
          <a:solidFill>
            <a:srgbClr val="1F3E60"/>
          </a:solidFill>
          <a:ln w="12700">
            <a:solidFill>
              <a:srgbClr val="1A7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31136"/>
            <a:ext cx="164592" cy="107899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322576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7A82">
              <a:alpha val="80000"/>
            </a:srgbClr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22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2322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[전체] 자유 발언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1518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"기술이 발전하면 일자리는 늘어날까, 줄어들까?"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88720" y="29443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개인적으로 생각해보고 (1분), 이후 자유롭게 발언해봅시다.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여러분이 초등교사가 된 이후의 상황을 상상해 보세요.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38144"/>
            <a:ext cx="8503920" cy="1078992"/>
          </a:xfrm>
          <a:prstGeom prst="rect">
            <a:avLst/>
          </a:prstGeom>
          <a:solidFill>
            <a:srgbClr val="1F3E60"/>
          </a:solidFill>
          <a:ln w="12700">
            <a:solidFill>
              <a:srgbClr val="2D7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38144"/>
            <a:ext cx="164592" cy="107899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29584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D7A3A">
              <a:alpha val="80000"/>
            </a:srgbClr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95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3529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[기록] 포스트잇 활동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82219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혜택을 가장 많이 받는 사람은 누구인가?"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88720" y="41513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포스트잇에 적어 칠판에 붙여주세요.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답끼리 묶어보면 어떤 패턴이 보이나요?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내내 우리가 씨름할 하나의 질문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82880" cy="12344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발전은 곧 진보인가?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기술이 모두를 위한 것이 되려면 교육은 무엇을 해야 하는가?"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14600"/>
            <a:ext cx="2743200" cy="7315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651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2A6099">
              <a:alpha val="8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" y="310896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방향을 결정하는 것은 누구인가?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5146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514600"/>
            <a:ext cx="2743200" cy="7315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2651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A7A82">
              <a:alpha val="85000"/>
            </a:srgbClr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310896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혜택과 피해는 어떻게 분배되는가?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5146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514600"/>
            <a:ext cx="2743200" cy="7315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65176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2D7A3A">
              <a:alpha val="85000"/>
            </a:srgbClr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0488" y="310896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질문에 교사는 어떻게 답할 수 있는가?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731520"/>
          </a:xfrm>
          <a:prstGeom prst="rect">
            <a:avLst/>
          </a:prstGeom>
          <a:solidFill>
            <a:srgbClr val="FBF0D8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05072"/>
            <a:ext cx="182880" cy="73152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023360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수업이 끝날 때, 여러분은 AI와 기술에 대해 '어떻게 생각해야 하는지'가 아니라 '어떻게 질문해야 하는지'를 갖고 나가게 될 것입니다.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문화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함께 만들어 갈 토론 그라운드 룰 7가지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경청 우선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36192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상대의 발언이 끝난 후 3초간 침묵한 뒤 발언합니다.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240280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1122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제시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"저는 ~라고 생각합니다. 왜냐하면 책의 ~장에서..."처럼 텍스트를 활용합니다.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44368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3127248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99923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건설적 반론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31012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"동의하지 않습니다" 대신 "다른 관점에서 보면..."으로 시작합니다.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3133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31336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4014216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88620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환영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97096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것을 질문하는 것이 토론의 핵심입니다. 질문은 언제나 환영합니다.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170432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353312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225296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평등한 참여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1536192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사람이 연속 2회 이상 발언하지 않습니다. 아직 말하지 않은 사람을 배려하세요.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057400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2240280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21122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존중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2423160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의견을 비판하되 사람을 비판하지 않습니다. 이 교실은 안전한 공간입니다.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2944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944368"/>
            <a:ext cx="73152" cy="74980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127248"/>
            <a:ext cx="384048" cy="38404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299923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열린 마음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3310128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후 내 생각이 바뀌는 것은 나쁜 것이 아니라 성장의 증거입니다.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0040" y="4727448"/>
            <a:ext cx="8503920" cy="0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성찰일지 안내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주차별 성찰일지 작성법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7315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43584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35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78408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방법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LMS(학습관리시스템)에 파일 업로드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1704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70432"/>
            <a:ext cx="2011680" cy="7315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243584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2435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27248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기한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수업 종료 후 48시간 이내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1704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70432"/>
            <a:ext cx="2011680" cy="73152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243584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2435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76088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1쪽 (800~1,200자 내외)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170432"/>
            <a:ext cx="2011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170432"/>
            <a:ext cx="2011680" cy="7315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243584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2435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24928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 형식 (단, 4가지 요소 포함)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2103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필수 ] 성찰일지에 반드시 포함할 4가지 요소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257860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578608"/>
            <a:ext cx="91440" cy="438912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" y="2660904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1A7A82">
              <a:alpha val="85000"/>
            </a:srgbClr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26609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인상 깊었던 대목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108960" y="26609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읽기나 토론에서 가장 기억에 남는 구절이나 순간 + 왜 그랬는지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09067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090672"/>
            <a:ext cx="9144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" y="3172968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2A6099">
              <a:alpha val="8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3172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입장 변화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108960" y="3172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토론에서 내 생각이 바뀌거나 강화된 지점 — 왜 그렇게 되었는지를 써보세요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60273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602736"/>
            <a:ext cx="91440" cy="438912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" y="3685032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5A3090">
              <a:alpha val="85000"/>
            </a:srgbClr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36850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초등교사로서의 의미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108960" y="3685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내용이 미래 교사로서 나에게 어떤 의미를 갖는지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411480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4114800"/>
            <a:ext cx="9144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" y="4197096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2D7A3A">
              <a:alpha val="85000"/>
            </a:srgbClr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" y="41970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주를 위한 질문 1개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108960" y="41970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수업에서 아직 해결되지 않은 나만의 질문 — 궁금한 것이 있다면 무엇이든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626864"/>
            <a:ext cx="8503920" cy="164592"/>
          </a:xfrm>
          <a:prstGeom prst="rect">
            <a:avLst/>
          </a:prstGeom>
          <a:solidFill>
            <a:srgbClr val="FBF0D8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6268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성찰일지 채점 기준: 정답의 옳고 그름보다 진지한 성찰의 깊이를 봅니다. 솔직하게 쓰세요.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구성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 모둠 편성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457200"/>
          </a:xfrm>
          <a:prstGeom prst="rect">
            <a:avLst/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구성 원칙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457200" cy="310896"/>
          </a:xfrm>
          <a:prstGeom prst="roundRect">
            <a:avLst>
              <a:gd name="adj" fmla="val 14706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4인 1조 (학기 내내 유지)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모둠이 중간·최종 프로젝트도 함께 진행합니다.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457200" cy="310896"/>
          </a:xfrm>
          <a:prstGeom prst="roundRect">
            <a:avLst>
              <a:gd name="adj" fmla="val 14706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88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순환제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28895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역할(사회자·기록자·발표자·타임키퍼)을 순환합니다.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457200" cy="310896"/>
          </a:xfrm>
          <a:prstGeom prst="roundRect">
            <a:avLst>
              <a:gd name="adj" fmla="val 14706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112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 책임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내 한 명이 어려울 때 함께 도와주는 것이 원칙입니다.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17043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70432"/>
            <a:ext cx="4114800" cy="457200"/>
          </a:xfrm>
          <a:prstGeom prst="rect">
            <a:avLst/>
          </a:prstGeom>
          <a:solidFill>
            <a:srgbClr val="1F3E60"/>
          </a:solidFill>
          <a:ln w="12700">
            <a:solidFill>
              <a:srgbClr val="1F3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17043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역할 (매주 순환)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28032" y="1737360"/>
            <a:ext cx="3877056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192024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9202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13248" y="1792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21031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진행, 발언 기회 배분, 주제 이탈 방지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2496312"/>
            <a:ext cx="3877056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2679192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6791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13248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286207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내용·합의사항 기록, 갤러리 워크 포스터 작성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28032" y="3255264"/>
            <a:ext cx="3877056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438144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43814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13248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13248" y="362102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모둠 토론 결과를 전체에 발표 (3~5분)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28032" y="4014216"/>
            <a:ext cx="3877056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4197096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5A3090"/>
          </a:solidFill>
          <a:ln w="12700">
            <a:solidFill>
              <a:srgbClr val="5A3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419709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13248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타임키퍼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13248" y="43799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관리, 각 활동 잔여 시간 알림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C47A0A"/>
          </a:solidFill>
          <a:ln w="12700">
            <a:solidFill>
              <a:srgbClr val="C47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준비 사항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11155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82880" cy="111556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070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과제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 (진보란 무엇인가)  +  1장 (테크놀로지에 대한 통제)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50~60쪽 분량  |  다음 주 수업 전까지 읽어오세요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60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4160520" cy="420624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49631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96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6696" y="2423160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질문지 작성 (사전 과제)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가장 공감한 문장 1개 → 직접 필사 + 공감하는 이유 (3~5줄)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가장 의문이 든 문장 1개 → 직접 필사 + 어떤 점이 의문인지 질문으로 작성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질문이 2주차 소크라테스 세미나의 출발점이 됩니다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160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23160"/>
            <a:ext cx="4160520" cy="420624"/>
          </a:xfrm>
          <a:prstGeom prst="rect">
            <a:avLst/>
          </a:prstGeom>
          <a:solidFill>
            <a:srgbClr val="1A7A82"/>
          </a:solidFill>
          <a:ln w="12700">
            <a:solidFill>
              <a:srgbClr val="1A7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49631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96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0096" y="2423160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읽으면서 생각해 볼 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저자들은 '기술 낙관주의'를 왜 위험하다고 볼까?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'생산성 밴드왜건'이 작동하려면 어떤 조건이 필요한가?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4023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 사회에서 이 논의가 어떻게 적용될 수 있을까?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718304"/>
            <a:ext cx="8503920" cy="73152"/>
          </a:xfrm>
          <a:prstGeom prst="rect">
            <a:avLst/>
          </a:prstGeom>
          <a:solidFill>
            <a:srgbClr val="FBF0D8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청주교육대학교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828800"/>
            <a:ext cx="6858000" cy="6858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2A6099">
              <a:alpha val="12000"/>
            </a:srgbClr>
          </a:solidFill>
          <a:ln w="12700">
            <a:solidFill>
              <a:srgbClr val="2A609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21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메시지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7772400" cy="1920240"/>
          </a:xfrm>
          <a:prstGeom prst="rect">
            <a:avLst/>
          </a:prstGeom>
          <a:solidFill>
            <a:srgbClr val="1F3E60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24128"/>
            <a:ext cx="182880" cy="19202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155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"기술의 방향은 누가 선택하는가?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선택이 모두를 위한 것이 되려면 교육은 무엇을 해야 하는가?"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7772400" cy="384048"/>
          </a:xfrm>
          <a:prstGeom prst="rect">
            <a:avLst/>
          </a:prstGeom>
          <a:solidFill>
            <a:srgbClr val="2A5580">
              <a:alpha val="60000"/>
            </a:srgbClr>
          </a:solidFill>
          <a:ln w="12700">
            <a:solidFill>
              <a:srgbClr val="2A609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191256"/>
            <a:ext cx="182880" cy="18288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906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질문을 15주 동안 내 것으로 만들어 보세요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47872"/>
            <a:ext cx="7772400" cy="384048"/>
          </a:xfrm>
          <a:prstGeom prst="rect">
            <a:avLst/>
          </a:prstGeom>
          <a:solidFill>
            <a:srgbClr val="2A5580">
              <a:alpha val="60000"/>
            </a:srgbClr>
          </a:solidFill>
          <a:ln w="12700">
            <a:solidFill>
              <a:srgbClr val="2A609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48456"/>
            <a:ext cx="182880" cy="18288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478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읽기: 프롤로그 + 1장 (질문지 작성 포함)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7772400" cy="384048"/>
          </a:xfrm>
          <a:prstGeom prst="rect">
            <a:avLst/>
          </a:prstGeom>
          <a:solidFill>
            <a:srgbClr val="2A5580">
              <a:alpha val="60000"/>
            </a:srgbClr>
          </a:solidFill>
          <a:ln w="12700">
            <a:solidFill>
              <a:srgbClr val="2A609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05656"/>
            <a:ext cx="182880" cy="18288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050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소크라테스 세미나에서 만나요!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오리엔테이션  |  슬라이드 총 14장  |  청주교육대학교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오리엔테이션 — 기술과 사회적 선택의 역사</dc:title>
  <dc:subject>PptxGenJS Presentation</dc:subject>
  <dc:creator>PptxGenJS</dc:creator>
  <cp:lastModifiedBy>PptxGenJS</cp:lastModifiedBy>
  <cp:revision>1</cp:revision>
  <dcterms:created xsi:type="dcterms:W3CDTF">2026-02-19T00:51:46Z</dcterms:created>
  <dcterms:modified xsi:type="dcterms:W3CDTF">2026-02-19T00:51:46Z</dcterms:modified>
</cp:coreProperties>
</file>