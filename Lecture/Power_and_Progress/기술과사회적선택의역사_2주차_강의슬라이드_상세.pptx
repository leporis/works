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-640080"/>
            <a:ext cx="3657600" cy="3657600"/>
          </a:xfrm>
          <a:prstGeom prst="ellipse">
            <a:avLst/>
          </a:prstGeom>
          <a:solidFill>
            <a:srgbClr val="2A6099">
              <a:alpha val="18000"/>
            </a:srgbClr>
          </a:solidFill>
          <a:ln w="12700">
            <a:solidFill>
              <a:srgbClr val="2A609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84048"/>
            <a:ext cx="960120" cy="960120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3840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25603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발전 = 진보"라는 신화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밴드왜건과 비전 설정자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4048" y="1627632"/>
            <a:ext cx="8375904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19072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 (진보란 무엇인가)  +  1장 (테크놀로지에 대한 통제)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대런 아세모글루 · 사이먼 존슨  『권력과 진보』  |  강의 시간: 0~15분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생산성 밴드왜건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0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83664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밴드왜건 작동 3대 조건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28416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비전(vision)의 개념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18304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73168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비전 설정자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63056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비전의 과잉 확신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07808" y="2487168"/>
            <a:ext cx="1389888" cy="621792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62672" y="250545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핵심 역사 사례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188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슬라이드는 매주 0~15분 도입 강의 자료입니다  |  청주교육대학교 예비 초등교사 세미나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2A6099">
              <a:alpha val="18000"/>
            </a:srgbClr>
          </a:solidFill>
          <a:ln w="12700">
            <a:solidFill>
              <a:srgbClr val="2A60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'기술 발전이 자동으로 번영을 가져다준다'는 믿음은 사실인가?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생산성 밴드왜건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낙관주의 — 강력한 이데올로기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18세기 산업혁명 이후 서구 사회를 지배해온 믿음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24128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24128"/>
            <a:ext cx="4160520" cy="4572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0241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낙관주의란?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"기술이 발전하면 사회 전체가 더 나아진다"는 믿음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아세모글루·존슨은 이것이 단순한 낙관이 아니라 하나의 </a:t>
            </a:r>
            <a:pPr indent="0" marL="0">
              <a:buNone/>
            </a:pPr>
            <a:r>
              <a:rPr lang="en-US" sz="115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이데올로기</a:t>
            </a:r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라고 본다.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이데올로기는 18세기 산업혁명 이후 서구 사회를 지배해 왔으며, 오늘날 AI 시대에도 여전히 강력하게 작동하고 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07899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78992"/>
            <a:ext cx="82296" cy="1005840"/>
          </a:xfrm>
          <a:prstGeom prst="rect">
            <a:avLst/>
          </a:prstGeom>
          <a:solidFill>
            <a:srgbClr val="2A6099">
              <a:alpha val="80000"/>
            </a:srgbClr>
          </a:solidFill>
          <a:ln w="12700">
            <a:solidFill>
              <a:srgbClr val="2A6099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일상 언어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44475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우리의 삶을 더 편하게 만들어줄 것이다"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67712"/>
            <a:ext cx="82296" cy="1005840"/>
          </a:xfrm>
          <a:prstGeom prst="rect">
            <a:avLst/>
          </a:prstGeom>
          <a:solidFill>
            <a:srgbClr val="2A6099">
              <a:alpha val="80000"/>
            </a:srgbClr>
          </a:solidFill>
          <a:ln w="12700">
            <a:solidFill>
              <a:srgbClr val="2A609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언론 담론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63347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"4차 산업혁명이 새로운 기회를 창출할 것이다"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564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56432"/>
            <a:ext cx="82296" cy="1005840"/>
          </a:xfrm>
          <a:prstGeom prst="rect">
            <a:avLst/>
          </a:prstGeom>
          <a:solidFill>
            <a:srgbClr val="2A6099">
              <a:alpha val="80000"/>
            </a:srgbClr>
          </a:solidFill>
          <a:ln w="12700">
            <a:solidFill>
              <a:srgbClr val="2A6099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교육 현장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82219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"미래 인재는 코딩을 배워야 한다"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334256"/>
            <a:ext cx="8503920" cy="402336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33425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이 믿음은 과연 사실인가? 기술 발전은 항상, 자동으로, 모두에게 이로운가?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생산성 밴드왜건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밴드왜건의 작동 원리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혁신이 자동으로 번영을 낳는다는 선순환 가설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011680" cy="1005840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9202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978408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76472" y="996696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혁신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76472" y="139903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도구·공정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1554480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9672" y="157276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향상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19751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적은 비용·시간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93408" y="2816352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8346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이익↑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 수요↑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32369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일자리 확대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67328" y="3520440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35387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임금 상승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39410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노동자 실질 소득 증가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05840" y="2468880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5A7A1A"/>
          </a:solidFill>
          <a:ln w="12700">
            <a:solidFill>
              <a:srgbClr val="5A7A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78992" y="248716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확대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78992" y="28895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 전체 순환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1252728"/>
            <a:ext cx="1664208" cy="9144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6858000" y="2148840"/>
            <a:ext cx="9144" cy="667512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5303520" y="3273552"/>
            <a:ext cx="1508760" cy="45720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2423160" y="3273552"/>
            <a:ext cx="914400" cy="50292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2331720" y="2084832"/>
            <a:ext cx="1389888" cy="621792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708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낙관주의자들의 주장: 이 밴드왜건은 '자동으로' 작동한다 — 기술만 발전하면 나머지는 저절로 따라온다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생산성 밴드왜건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밴드왜건은 '자동'으로 작동하지 않는다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저자들의 핵심 반론 — 세 가지 조건이 충족되어야 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05840"/>
            <a:ext cx="201168" cy="82296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097280"/>
            <a:ext cx="8119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"밴드왜건이 작동하려면 세 가지 조건이 동시에 충족되어야 한다. 하나라도 빠지면, 기술 발전은 소수의 부를 극대화하면서 다수의 삶을 악화시킬 수 있다."  — 아세모글루·존슨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4023360" cy="2560320"/>
          </a:xfrm>
          <a:prstGeom prst="rect">
            <a:avLst/>
          </a:prstGeom>
          <a:solidFill>
            <a:srgbClr val="E8F0FB"/>
          </a:solidFill>
          <a:ln w="12700">
            <a:solidFill>
              <a:srgbClr val="B0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65960"/>
            <a:ext cx="402336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65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기술 낙관주의의 믿음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05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기술이 발전하면 → 자동으로 번영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980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모든 사람이 혜택을 받는다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시간이 지나면 스스로 해결된다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반대하는 것은 시대착오다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965960"/>
            <a:ext cx="402336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0C8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965960"/>
            <a:ext cx="402336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65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아세모글루·존슨의 반론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505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기술 발전 → 3가지 조건 필요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2980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혜택 공유는 사회적 선택의 결과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4564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피해자가 생겨도 '자동 해소' 안 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비판적 검토 없이는 반복된다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708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저자들의 핵심 논제: 이것이 역사에서 반복적으로 나타나는 패턴이며, AI 시대에도 동일한 위험이 존재한다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2A6099">
              <a:alpha val="18000"/>
            </a:srgbClr>
          </a:solidFill>
          <a:ln w="12700">
            <a:solidFill>
              <a:srgbClr val="2A60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 작동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조건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조건 중 하나라도 빠지면 기술은 소수만을 위한 것이 된다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3대 조건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밴드왜건이 작동하기 위한 3가지 조건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조건들이 갖춰졌을 때만 기술 발전이 모두에게 이롭다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05840"/>
            <a:ext cx="2798064" cy="50292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02336" y="21488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업무·일자리 창출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697480"/>
            <a:ext cx="2249424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761488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 단순히 인간 노동을 대체하는 것이 아니라, 새로운 업무와 역할을 만들어내야 한다.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" y="3913632"/>
            <a:ext cx="2578608" cy="502920"/>
          </a:xfrm>
          <a:prstGeom prst="rect">
            <a:avLst/>
          </a:prstGeom>
          <a:solidFill>
            <a:srgbClr val="2A6099">
              <a:alpha val="15000"/>
            </a:srgbClr>
          </a:solidFill>
          <a:ln w="12700">
            <a:solidFill>
              <a:srgbClr val="2A609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13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'자동화'와 '보완'의 차이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10058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1005840"/>
            <a:ext cx="2798064" cy="502920"/>
          </a:xfrm>
          <a:prstGeom prst="rect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64408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282696" y="21488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노동자의 교섭력 유지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47288" y="2697480"/>
            <a:ext cx="2249424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2761488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노동자가 임금 인상을 요구할 수 있는 교섭력(bargaining power)을 보유해야 한다.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82696" y="3913632"/>
            <a:ext cx="2578608" cy="502920"/>
          </a:xfrm>
          <a:prstGeom prst="rect">
            <a:avLst/>
          </a:prstGeom>
          <a:solidFill>
            <a:srgbClr val="2D6E8A">
              <a:alpha val="15000"/>
            </a:srgbClr>
          </a:solidFill>
          <a:ln w="12700">
            <a:solidFill>
              <a:srgbClr val="2D6E8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913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노동조합, 단체 협약, 법적 보호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53328" y="10058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1005840"/>
            <a:ext cx="2798064" cy="50292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63056" y="21488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재분배 제도적 장치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27648" y="2697480"/>
            <a:ext cx="2249424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2761488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혜택을 사회 전체로 재분배하는 제도적 장치(세금·사회보장·노동법)가 작동해야 한다.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3913632"/>
            <a:ext cx="2578608" cy="502920"/>
          </a:xfrm>
          <a:prstGeom prst="rect">
            <a:avLst/>
          </a:prstGeom>
          <a:solidFill>
            <a:srgbClr val="2D7A3A">
              <a:alpha val="15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9136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복지국가, 최저임금제, 누진세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" y="4462272"/>
            <a:ext cx="8558784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가지 조건은 동시에 충족되어야 한다 — 하나라도 빠지면 밴드왜건은 멈춘다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3대 조건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1: 새로운 업무·일자리 창출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자동화(대체)와 보완의 차이 — 기술이 어떤 방향을 향하는가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987552"/>
            <a:ext cx="4069080" cy="3273552"/>
          </a:xfrm>
          <a:prstGeom prst="rect">
            <a:avLst/>
          </a:prstGeom>
          <a:solidFill>
            <a:srgbClr val="FEF0EF"/>
          </a:solidFill>
          <a:ln w="12700">
            <a:solidFill>
              <a:srgbClr val="E8B4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987552"/>
            <a:ext cx="406908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987552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자동화 (인간 대체)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151790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인간 노동을 기계로 대체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17627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숙련 직조공 → 방직기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8346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콜센터 직원 → AI 챗봇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4930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일자리 감소, 소득 격차 확대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987552"/>
            <a:ext cx="4069080" cy="3273552"/>
          </a:xfrm>
          <a:prstGeom prst="rect">
            <a:avLst/>
          </a:prstGeom>
          <a:solidFill>
            <a:srgbClr val="E8F5E9"/>
          </a:solidFill>
          <a:ln w="12700">
            <a:solidFill>
              <a:srgbClr val="A0C8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987552"/>
            <a:ext cx="406908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987552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보완 (인간 역량 강화)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151790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인간의 능력을 확장·보조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217627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의사 + AI 진단 보조 도구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28346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교사 + 개별 학습 데이터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2312" y="34930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생산성 향상 + 고용 유지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70832"/>
            <a:ext cx="8412480" cy="34747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밴드왜건이 작동하려면: 기술이 단순히 대체하는 것이 아니라, '새로운 업무'를 만들어 노동자가 이동할 수 있어야 한다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3대 조건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2·3: 교섭력 + 재분배 제도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발전의 과실을 누가 차지하는가는 제도가 결정한다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987552"/>
            <a:ext cx="411480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987552"/>
            <a:ext cx="4114800" cy="438912"/>
          </a:xfrm>
          <a:prstGeom prst="rect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98755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2  💪  노동자의 교섭력 유지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1527048"/>
            <a:ext cx="237744" cy="237744"/>
          </a:xfrm>
          <a:prstGeom prst="ellipse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50876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교섭력이란: 노동자가 임금 인상을 요구하고 관철할 수 있는 협상 능력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2167128"/>
            <a:ext cx="237744" cy="237744"/>
          </a:xfrm>
          <a:prstGeom prst="ellipse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14884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교섭력 보장 수단: 노동조합, 단체 협약, 최저임금법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2807208"/>
            <a:ext cx="237744" cy="237744"/>
          </a:xfrm>
          <a:prstGeom prst="ellipse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78892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교섭력이 없으면: 기술 발전의 과실이 오직 기업 주주에게만 돌아감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3447288"/>
            <a:ext cx="237744" cy="237744"/>
          </a:xfrm>
          <a:prstGeom prst="ellipse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42900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 사례: 산업혁명 초기 — 교섭력 없는 노동자의 임금은 수십 년간 정체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987552"/>
            <a:ext cx="411480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87552"/>
            <a:ext cx="411480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98755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3  ⚖️  재분배 제도적 장치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1527048"/>
            <a:ext cx="237744" cy="237744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50876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재분배 장치란: 기술 이익이 소수에게 집중되지 않도록 하는 제도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167128"/>
            <a:ext cx="237744" cy="237744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14884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수단: 누진세, 사회보장제도, 공교육, 노동법 보호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2807208"/>
            <a:ext cx="237744" cy="237744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78892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재분배 없이는: 기술이 발전할수록 불평등만 심화됨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447288"/>
            <a:ext cx="237744" cy="237744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42900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 사례: 복지국가 성립(1940~70s) — 밴드왜건이 가장 잘 작동한 시기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708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조건이 모두 갖춰진 1870~1970년 — 이 시기만이 기술 발전과 광범위한 번영이 함께 이루어진 '공유된 번영의 시대'였다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3대 조건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조건이 충족되지 않으면 — AI 시대의 경고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우리는 어떤 조건이 빠져 있는가?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4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777240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05840"/>
            <a:ext cx="201168" cy="77724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097280"/>
            <a:ext cx="8119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"현재의 AI 시대에도 동일한 위험이 존재한다. 기술이 발전해도 세 조건이 충족되지 않으면, 결과는 소수의 극적인 부의 증가와 다수의 정체 혹은 악화다."  — 아세모글루·존슨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20240"/>
            <a:ext cx="91440" cy="71323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1: 새 일자리 창출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위험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011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자동화가 기존 일자리를 대체하나 충분한 새 일자리가 창출되지 않고 있음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6148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61488"/>
            <a:ext cx="91440" cy="713232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2: 교섭력 유지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약화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8529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경제, 긱 워커, 비정규직 증가로 노동자의 집단 교섭력이 약화되는 추세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02736"/>
            <a:ext cx="91440" cy="713232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3: 재분배 제도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86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미비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6941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기업에 대한 세금·규제는 기술 발전 속도를 따라가지 못하고 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805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역사의 교훈: 이 조건들은 저절로 갖춰지지 않는다. 의도적인 사회적 선택과 제도 설계가 필요하다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3575B5">
              <a:alpha val="18000"/>
            </a:srgbClr>
          </a:solidFill>
          <a:ln w="12700">
            <a:solidFill>
              <a:srgbClr val="3575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(Vision)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기술에는 정해진 경로가 없다 — 방향은 항상 선택이다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비전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비전이란 무엇인가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 세상을 '이렇게' 바꿀 것이라는 지배적 서사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1024128"/>
            <a:ext cx="6949440" cy="9326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10241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(Vision)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353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기술이 세상을 이렇게 바꿀 것이다"라는 지배적 서사(narrative) — 기술의 사용 방향과 목적을 규정하는 이야기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저자들의 핵심 주장: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43230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기술에는 '정해진 경로'가 없다. 같은 기술도 어떤 비전으로 사용하느냐에 따라 전혀 다른 결과를 낳는다.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99232"/>
            <a:ext cx="2743200" cy="347472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기술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015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A: 감시 체계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7124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B: 협업 도구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중국 vs 일본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99923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999232"/>
            <a:ext cx="2743200" cy="347472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34015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A: 인간 대체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7124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B: 인간 보완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빅테크 vs 의료 보조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99923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99232"/>
            <a:ext cx="2743200" cy="347472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99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미디어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34015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A: 감시·조작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37124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B: 연대·공론장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40233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권위주의 vs 민주주의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553712"/>
            <a:ext cx="8503920" cy="201168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기술 자체가 아니라 '비전의 선택'이 결과를 결정한다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비전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비전이 '상식'이 되는 과정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비전은 어떻게 사회 전체에 퍼지는가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2377440"/>
            <a:ext cx="256032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13" name="Shape 11"/>
          <p:cNvSpPr/>
          <p:nvPr/>
        </p:nvSpPr>
        <p:spPr>
          <a:xfrm>
            <a:off x="4572000" y="2377440"/>
            <a:ext cx="256032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6739128" y="2377440"/>
            <a:ext cx="256032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320040" y="987552"/>
            <a:ext cx="2075688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1042416"/>
            <a:ext cx="658368" cy="658368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17922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제시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" y="2212848"/>
            <a:ext cx="1673352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286000"/>
            <a:ext cx="1856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소수의 비전 설정자가 '이 기술이 세상을 이렇게 바꿀 것이다'라는 서사를 만들어냄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87168" y="987552"/>
            <a:ext cx="2075688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1042416"/>
            <a:ext cx="658368" cy="658368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78608" y="17922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확산·정당화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88336" y="2212848"/>
            <a:ext cx="1673352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2286000"/>
            <a:ext cx="1856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언론, 교육, 정책 담론을 통해 서사가 퍼지고 '진보'와 동일시됨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987552"/>
            <a:ext cx="2075688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85816" y="1042416"/>
            <a:ext cx="658368" cy="658368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85816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45736" y="17922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형성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55464" y="2212848"/>
            <a:ext cx="1673352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286000"/>
            <a:ext cx="1856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 구성원 대다수가 이 비전을 '당연한 것', '불가피한 것'으로 받아들임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21424" y="987552"/>
            <a:ext cx="2075688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52944" y="1042416"/>
            <a:ext cx="658368" cy="658368"/>
          </a:xfrm>
          <a:prstGeom prst="ellipse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2864" y="17922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 차단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22592" y="2212848"/>
            <a:ext cx="1673352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2286000"/>
            <a:ext cx="1856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비전에 반대하는 목소리는 '시대착오적', '비현실적'이라는 낙인이 찍힘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343400"/>
            <a:ext cx="8503920" cy="347472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343400"/>
            <a:ext cx="201168" cy="34747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434840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과정이 완성되면, 기술의 방향에 대한 비판적 논의 자체가 어려워진다. 비판은 '반 기술', '반 진보'로 규정된다.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비전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비전과 교육 — 교실도 비전을 전달한다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초등 교사는 어떤 기술 비전을 학생들에게 전달하고 있는가?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05840"/>
            <a:ext cx="411480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00584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교실에서 흔히 전달되는 기술 비전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15361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"기술은 발전한다 → 적응해야 한다"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1993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배워야 미래가 있다"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모든 것을 바꿀 것이다"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"기술은 중립적 도구다"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비판 없이 기술 낙관주의를 재생산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411480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00584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비판적 기술 비전의 교육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15361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방향은 선택이다"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1993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기술은 누구를 위한 것인가?"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4505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"기술이 만드는 불평등을 어떻게 해소할까?"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907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"우리가 원하는 기술 미래를 설계하자"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364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학생이 비전을 비판적으로 분석하는 시민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질문: 여러분이 받은 교육에서 기술은 주로 어떤 비전으로 서술되었는가? 어떤 메시지를 기억하고 있는가?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2A6099">
              <a:alpha val="18000"/>
            </a:srgbClr>
          </a:solidFill>
          <a:ln w="12700">
            <a:solidFill>
              <a:srgbClr val="2A60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(Vision Setter)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방향을 결정하는 사람들은 누구인가?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비전 설정자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설정자란 누구인가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'이 기술이 세상을 이렇게 바꿀 것이다'라는 서사를 만드는 집단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05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 (Vision Setter)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발전의 방향과 목적을 정의하는 지배적 서사를 만들어내는 집단 — 역사적으로 항상 소수 엘리트였다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" y="25237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" y="2889504"/>
            <a:ext cx="1682496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443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사회 전체가 아닌 소수가 기술의 방향을 결정해왔다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192024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42032" y="25237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이익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3472" y="2889504"/>
            <a:ext cx="1682496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9443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설정자는 자신에게 이로운 방향으로 기술 비전을 설계한다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92024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90872" y="25237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82312" y="2889504"/>
            <a:ext cx="1682496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9443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자신의 비전을 '사회 전체에 이롭다'는 언어로 포장하고 확산시킨다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192024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39712" y="25237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장벽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31152" y="2889504"/>
            <a:ext cx="1682496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9443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자신의 비전에 반하는 목소리는 구조적으로 배제하거나 차단한다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비전 설정자의 문제는 그들이 '사회 전체'가 아닌 '자신에게 이로운' 방향으로 기술의 미래를 그린다는 것이다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비전 설정자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 속 비전 설정자의 변천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고대에서 AI 시대까지 — 소수 엘리트가 방향을 결정한다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05840"/>
            <a:ext cx="1664208" cy="768096"/>
          </a:xfrm>
          <a:prstGeom prst="rect">
            <a:avLst/>
          </a:prstGeom>
          <a:solidFill>
            <a:srgbClr val="5A7A1A">
              <a:alpha val="88000"/>
            </a:srgbClr>
          </a:solidFill>
          <a:ln w="12700">
            <a:solidFill>
              <a:srgbClr val="5A7A1A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04241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고대·중세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13898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왕과 사제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1078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관개·농경·건축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13898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"신의 뜻에 따라 기술이 사회를 조직한다"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48272" y="1133856"/>
            <a:ext cx="1993392" cy="502920"/>
          </a:xfrm>
          <a:prstGeom prst="rect">
            <a:avLst/>
          </a:prstGeom>
          <a:solidFill>
            <a:srgbClr val="9B2020">
              <a:alpha val="12000"/>
            </a:srgbClr>
          </a:solidFill>
          <a:ln w="12700">
            <a:solidFill>
              <a:srgbClr val="9B202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13385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잉여가 신전·궁전 귀속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892808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892808"/>
            <a:ext cx="1664208" cy="768096"/>
          </a:xfrm>
          <a:prstGeom prst="rect">
            <a:avLst/>
          </a:prstGeom>
          <a:solidFill>
            <a:srgbClr val="C47A0A">
              <a:alpha val="88000"/>
            </a:srgbClr>
          </a:solidFill>
          <a:ln w="12700">
            <a:solidFill>
              <a:srgbClr val="C47A0A">
                <a:alpha val="8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2938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산업혁명기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22768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공장주·은행가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방직기·증기기관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66544" y="2276856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"자유 시장이 기술과 번영을 가져온다"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48272" y="2020824"/>
            <a:ext cx="1993392" cy="502920"/>
          </a:xfrm>
          <a:prstGeom prst="rect">
            <a:avLst/>
          </a:prstGeom>
          <a:solidFill>
            <a:srgbClr val="9B2020">
              <a:alpha val="12000"/>
            </a:srgbClr>
          </a:solidFill>
          <a:ln w="12700">
            <a:solidFill>
              <a:srgbClr val="9B202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02082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아동 노동·극빈 노동자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79776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79776"/>
            <a:ext cx="1664208" cy="768096"/>
          </a:xfrm>
          <a:prstGeom prst="rect">
            <a:avLst/>
          </a:prstGeom>
          <a:solidFill>
            <a:srgbClr val="3575B5">
              <a:alpha val="88000"/>
            </a:srgbClr>
          </a:solidFill>
          <a:ln w="12700">
            <a:solidFill>
              <a:srgbClr val="3575B5">
                <a:alpha val="8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16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20세기 후반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31638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테크노크라트·경영자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66544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컴퓨터·자동화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66544" y="316382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"효율이 사회 전체에 이롭다"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48272" y="2907792"/>
            <a:ext cx="1993392" cy="502920"/>
          </a:xfrm>
          <a:prstGeom prst="rect">
            <a:avLst/>
          </a:prstGeom>
          <a:solidFill>
            <a:srgbClr val="9B2020">
              <a:alpha val="12000"/>
            </a:srgbClr>
          </a:solidFill>
          <a:ln w="12700">
            <a:solidFill>
              <a:srgbClr val="9B2020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290779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중산층 일자리 공동화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666744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666744"/>
            <a:ext cx="1664208" cy="768096"/>
          </a:xfrm>
          <a:prstGeom prst="rect">
            <a:avLst/>
          </a:prstGeom>
          <a:solidFill>
            <a:srgbClr val="2A6099">
              <a:alpha val="88000"/>
            </a:srgbClr>
          </a:solidFill>
          <a:ln w="12700">
            <a:solidFill>
              <a:srgbClr val="2A6099">
                <a:alpha val="8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033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(현재)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4050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실리콘밸리 기업가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66544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AI·플랫폼·빅데이터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66544" y="405079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모든 문제를 해결할 것이다"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48272" y="3794760"/>
            <a:ext cx="1993392" cy="502920"/>
          </a:xfrm>
          <a:prstGeom prst="rect">
            <a:avLst/>
          </a:prstGeom>
          <a:solidFill>
            <a:srgbClr val="9B2020">
              <a:alpha val="12000"/>
            </a:srgbClr>
          </a:solidFill>
          <a:ln w="12700">
            <a:solidFill>
              <a:srgbClr val="9B202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37947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불평등 심화·감시 자본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572000"/>
            <a:ext cx="8503920" cy="16459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720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패턴: 시대가 바뀌어도 소수 엘리트가 기술의 방향을 결정하고, 그 방향은 언제나 그들 자신에게 유리한 쪽이었다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비전 설정자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오늘날의 비전 설정자 — 실리콘밸리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시대에 기술의 방향을 결정하는 사람들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987552"/>
            <a:ext cx="8503920" cy="749808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987552"/>
            <a:ext cx="201168" cy="7498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078992"/>
            <a:ext cx="8119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"오늘날의 비전 설정자들은 AI가 의사, 교사, 판사를 대체할 것이라고 믿는다. 이 비전은 그들의 사업 모델에 완벽하게 부합한다."  — 아세모글루·존슨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874520"/>
            <a:ext cx="27432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74520"/>
            <a:ext cx="2743200" cy="38404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누구인가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350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대형 테크 기업(구글·애플·MS·아마존·메타)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008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스타트업 및 벤처 투자자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666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빅테크 CEO·수석 과학자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874520"/>
            <a:ext cx="27432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874520"/>
            <a:ext cx="2743200" cy="384048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비전인가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350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"AI가 모든 것을 바꿀 것이다"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008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"일자리는 없어져도 새 것이 생긴다"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666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"저항은 무의미하다, 적응하라"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1874520"/>
            <a:ext cx="27432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874520"/>
            <a:ext cx="2743200" cy="384048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문제인가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3500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 비전은 그들의 이윤과 완벽히 일치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008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노동자·시민·교사의 목소리 배제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6667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피해자가 생겨도 '불가피한 비용'으로 정당화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262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교사를 위한 질문: 교사는 AI 교육의 비전 설정에 어떤 역할을 할 수 있을까? 우리도 비전 설정자가 될 수 있는가?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비전 설정자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 — 정리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핵심은: 누가 기술의 방향을 결정할 권리가 있는가?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4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05840"/>
            <a:ext cx="406908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005840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현재의 문제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5361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소수의 빅테크가 AI 미래를 독점 설계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1993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그 비전은 그들의 이윤과 일치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대중은 '소비자'로만 참여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교사·노동자·시민의 목소리 없음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결과적으로 기술은 소수를 위한 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D8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005840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저자들이 제안하는 방향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5361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더 많은 사람이 비전 형성에 참여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993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교사·노동자·시민이 기술 거버넌스 참여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4505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비전에 대한 공공 토론 확대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9077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설계 원칙에 다양한 목소리 반영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3649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기술은 모두를 위한 방향으로 재설정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저자들의 희망: 더 많은 사람들이 비전 형성에 참여하게 되면, 기술의 방향은 바뀔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3575B5">
              <a:alpha val="18000"/>
            </a:srgbClr>
          </a:solidFill>
          <a:ln w="12700">
            <a:solidFill>
              <a:srgbClr val="3575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비전이 '상식'이 되면 비판은 차단된다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05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비전의 과잉 확신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 — 개념과 3단계 메커니즘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한번 굳어진 비전은 비판적 검토 없이 막대한 자원이 투입된다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005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 (Vision Overconfidence)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13350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한번 설정된 비전이 과도한 확신으로 굳어지면, 비판적 검토 없이 막대한 자원이 투입되고, 피해자가 생겨도 '진보의 불가피한 비용'으로 치부된다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28800"/>
            <a:ext cx="2743200" cy="41148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1  비전 굳히기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23317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언급과 제도화를 통해 비전이 '상식'으로 정착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2377440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90672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미디어·교육·정책이 동일 방향을 반복 강화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8288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828800"/>
            <a:ext cx="2743200" cy="411480"/>
          </a:xfrm>
          <a:prstGeom prst="rect">
            <a:avLst/>
          </a:prstGeom>
          <a:solidFill>
            <a:srgbClr val="2D6E8A"/>
          </a:solidFill>
          <a:ln w="12700">
            <a:solidFill>
              <a:srgbClr val="2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2  자원 집중 투입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3317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 없이 막대한 자원이 비전의 실현에 투입됨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017520"/>
            <a:ext cx="2377440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90672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예산, 정책 지원, 벤처 투자가 한 방향으로 쏠림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8288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828800"/>
            <a:ext cx="2743200" cy="411480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3  피해 정당화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23317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피해자가 발생해도 '불가피한 비용'으로 치부됨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017520"/>
            <a:ext cx="2377440" cy="0"/>
          </a:xfrm>
          <a:prstGeom prst="line">
            <a:avLst/>
          </a:prstGeom>
          <a:noFill/>
          <a:ln w="12700">
            <a:solidFill>
              <a:srgbClr val="D0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090672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'적응하지 못한 개인의 문제', '진보의 부작용은 감수해야'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553712"/>
            <a:ext cx="8503920" cy="16459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5371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비전에 대한 비판적 논의가 구조적으로 차단되고, 기술 발전의 방향은 소수의 의도대로 굳어진다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비전의 과잉 확신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현대에서의 비전 과잉 확신 — AI 담론 분석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'AI는 모든 것을 바꿀 것이다' — 이 문장을 해부하면?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987552"/>
            <a:ext cx="8503920" cy="530352"/>
          </a:xfrm>
          <a:prstGeom prst="rect">
            <a:avLst/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9875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모든 것을 바꿀 것이다  →  저항은 무의미하다  →  적응하지 못하면 당신의 문제"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627632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627632"/>
            <a:ext cx="109728" cy="768096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007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모든 것을 바꿀 것이다"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0482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누가? 어떻게? 누구를 위해? → 빠져있다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23744"/>
            <a:ext cx="109728" cy="768096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968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"저항은 무의미하다"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9443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기술의 방향 선택을 포기하라는 메시지 → 비판 차단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19856"/>
            <a:ext cx="109728" cy="768096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93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"적응하지 못하면 당신의 문제"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구조적 피해를 개인 책임으로 전가 → 설득 권력의 작동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3장 '설득 권력'의 현대적 형태다. 비전 과잉 확신을 통해 AI 자본의 이익이 사회 전체의 이익인 것처럼 포장된다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비전의 과잉 확신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확신을 어떻게 깰 수 있는가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시민과 교사의 역할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749808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05840"/>
            <a:ext cx="201168" cy="7498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097280"/>
            <a:ext cx="8119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방향이 불가피하다는 믿음 자체를 의심하는 것이 출발점이다. 기술에는 정해진 미래가 없다. 우리가 어떤 미래를 선택하느냐의 문제다."  — 아세모글루·존슨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01952"/>
            <a:ext cx="2743200" cy="384048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교사로서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교과서의 기술 서술을 비판적으로 읽고 분석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학생이 '기술은 왜?'라고 질문하도록 유도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기술의 수혜자와 피해자를 함께 가르치기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200400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901952"/>
            <a:ext cx="2743200" cy="384048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시민으로서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377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기술 정책 토론에 참여하고 목소리 내기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33756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AI·플랫폼의 비즈니스 모델을 비판적으로 이해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3337560" y="38404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대항 서사(counter-narrative) 형성에 기여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080760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901952"/>
            <a:ext cx="2743200" cy="384048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예비 교사로서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377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학생들이 비전 설정자가 될 수 있도록 교육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21792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기술 리터러시를 비판적 시민성으로 연결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217920" y="38404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교실을 작은 '기술 비전 토론장'으로 만들기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850392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3575B5">
              <a:alpha val="18000"/>
            </a:srgbClr>
          </a:solidFill>
          <a:ln w="12700">
            <a:solidFill>
              <a:srgbClr val="3575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역사 사례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640080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기술, 다른 사회적 선택 — 역사의 교훈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0974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강의  |  핵심 내용 06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핵심 사례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1 — 면화 조면기 (Cotton Gin, 1793)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혁신이 착취를 강화한 역설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1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05840"/>
            <a:ext cx="201168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005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1517904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엘리 휘트니의 면화 조면기 발명 — 면화 씨 제거 효율 50배 향상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1938528"/>
            <a:ext cx="36576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2368296" y="10058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68296" y="1005840"/>
            <a:ext cx="2011680" cy="438912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1005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59736" y="1517904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생산량 급증 — 미국 남부 농장 수익 폭증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9976" y="1938528"/>
            <a:ext cx="36576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4416552" y="10058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16552" y="1005840"/>
            <a:ext cx="201168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1005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07992" y="1517904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수요 급증 → 더 많은 면화 수확 필요 → 노예 노동 수요 오히려 증가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28232" y="1938528"/>
            <a:ext cx="36576" cy="0"/>
          </a:xfrm>
          <a:prstGeom prst="line">
            <a:avLst/>
          </a:prstGeom>
          <a:noFill/>
          <a:ln w="25400">
            <a:solidFill>
              <a:srgbClr val="C8973A"/>
            </a:solidFill>
            <a:prstDash val="solid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6464808" y="100584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1005840"/>
            <a:ext cx="201168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005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56248" y="1517904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1790~1860년: 미국 노예 인구 70만 → 400만 명으로 증가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8503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246120"/>
            <a:ext cx="109728" cy="1371600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저자들의 분석: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조면기는 기술적으로 탁월한 혁신이었다. 하지만 당시의 </a:t>
            </a:r>
            <a:pPr indent="0" marL="0">
              <a:buNone/>
            </a:pPr>
            <a:r>
              <a:rPr lang="en-US" sz="110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사회·경제적 구조(노예제)</a:t>
            </a:r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결합하여 착취를 강화했다. 기술 자체는 중립적이었으나, 그 기술을 사용하는 </a:t>
            </a:r>
            <a:pPr indent="0" marL="0">
              <a:buNone/>
            </a:pPr>
            <a:r>
              <a:rPr lang="en-US" sz="1100" b="1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'비전'이 착취적이었다.</a:t>
            </a:r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이것이 저자들이 강조하는 핵심 — 기술의 결과는 사회적 선택이 결정한다.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0392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핵심 사례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2 — 중세 풍차·물레방아 (10~15세기)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농업 생산성은 올랐는데 농민의 삶은 나아지지 않았다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2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005840"/>
            <a:ext cx="406908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005840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기술 혁신의 내용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536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풍차·물레방아: 곡물 분쇄 효율 비약적 향상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삼포식 농법: 토지 활용도와 수확량 크게 증가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마구(마구짝) 개선: 말의 노동력 활용 효율화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종합적으로 농업 생산성 30~50% 향상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005840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🏚 농민의 현실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536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잉여 생산물은 대부분 영주·교회에 귀속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1945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농민은 수확의 50~70%를 세금·공물로 납부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28529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발전의 수혜: 성당 건축 붐만 나타남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511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'농민의 노동이 성당의 첨탑이 됐다'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622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저자들의 교훈: 기술 혁신이 번영을 가져오지 않은 것이 아니라, 번영이 소수에게만 귀속된 것이다 — 제도와 권력 관계가 결과를 결정했다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핵심 사례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36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사례에서 배우는 공통 교훈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521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기술, 다른 결과 — 무엇이 차이를 만드는가?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65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3 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55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프롤로그 + 1장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4855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 · 존슨 『권력과 진보』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731520"/>
          </a:xfrm>
          <a:prstGeom prst="rect">
            <a:avLst/>
          </a:prstGeom>
          <a:solidFill>
            <a:srgbClr val="1A2E4A">
              <a:alpha val="92000"/>
            </a:srgbClr>
          </a:solidFill>
          <a:ln w="254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05840"/>
            <a:ext cx="201168" cy="73152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09728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"기술은 중립적이지 않다. 기술을 누가, 어떤 목적으로, 어떤 제도적 맥락에서 사용하느냐가 결과를 결정한다."  — 아세모글루·존슨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88366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83664"/>
            <a:ext cx="109728" cy="71323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048256"/>
            <a:ext cx="804672" cy="347472"/>
          </a:xfrm>
          <a:prstGeom prst="roundRect">
            <a:avLst>
              <a:gd name="adj" fmla="val 13158"/>
            </a:avLst>
          </a:prstGeom>
          <a:solidFill>
            <a:srgbClr val="2A6099">
              <a:alpha val="88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04825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89888" y="193852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자체는 결과를 결정하지 않는다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89888" y="2249424"/>
            <a:ext cx="729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조면기도, 풍차도 기술 자체는 가치 중립적이었다. 결과를 만든 것은 그 기술을 둘러싼 사회·경제·제도적 맥락이었다.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24912"/>
            <a:ext cx="109728" cy="713232"/>
          </a:xfrm>
          <a:prstGeom prst="rect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2889504"/>
            <a:ext cx="804672" cy="347472"/>
          </a:xfrm>
          <a:prstGeom prst="roundRect">
            <a:avLst>
              <a:gd name="adj" fmla="val 13158"/>
            </a:avLst>
          </a:prstGeom>
          <a:solidFill>
            <a:srgbClr val="3575B5">
              <a:alpha val="88000"/>
            </a:srgbClr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8895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89888" y="277977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잉여를 누가 차지하느냐가 핵심이다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89888" y="3090672"/>
            <a:ext cx="729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 생산성을 높여도, 그 혜택을 누가 차지하느냐는 권력 관계와 제도가 결정한다. 이것이 2주차의 가장 중요한 메시지다.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66160"/>
            <a:ext cx="109728" cy="71323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" y="3730752"/>
            <a:ext cx="804672" cy="347472"/>
          </a:xfrm>
          <a:prstGeom prst="roundRect">
            <a:avLst>
              <a:gd name="adj" fmla="val 13158"/>
            </a:avLst>
          </a:prstGeom>
          <a:solidFill>
            <a:srgbClr val="2D7A3A">
              <a:alpha val="88000"/>
            </a:srgbClr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7307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89888" y="3621024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역사는 다른 선택이 가능했음을 보여준다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89888" y="3931920"/>
            <a:ext cx="729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면화 조면기를 사용하면서도 다른 노동 제도를 택했다면 결과는 달랐을 것이다. 기술의 방향은 선택이다.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498848"/>
            <a:ext cx="8503920" cy="256032"/>
          </a:xfrm>
          <a:prstGeom prst="rect">
            <a:avLst/>
          </a:prstGeom>
          <a:solidFill>
            <a:srgbClr val="1A2E4A">
              <a:alpha val="9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988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역사적 교훈이 AI 시대에도 그대로 적용된다 — 기술의 방향은 아직 결정되지 않았다. 우리가 선택할 수 있다.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8375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핵심 정리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731520"/>
            <a:ext cx="8375904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9611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03327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9509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9264" y="123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기술→생산성→임금→소비의 선순환. 단, 자동 작동하지 않는다.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9611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93792" y="103327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9509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 3대 조건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85232" y="12344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새 일자리 창출  ② 노동자 교섭력  ③ 재분배 제도 — 모두 필요하다.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171907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71907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" y="185623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17739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(Vision)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9264" y="20574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방향을 규정하는 지배적 서사. 기술에는 정해진 경로가 없다.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71907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1907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93792" y="185623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7739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85232" y="20574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역사적으로 항상 소수 엘리트. 오늘날은 실리콘밸리 기업가들.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254203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54203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" y="267919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5968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9264" y="28803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비전이 상식이 되면 비판이 차단된다. '저항은 무의미하다'의 함정.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542032"/>
            <a:ext cx="4133088" cy="676656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42032"/>
            <a:ext cx="438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93792" y="2679192"/>
            <a:ext cx="0" cy="402336"/>
          </a:xfrm>
          <a:prstGeom prst="line">
            <a:avLst/>
          </a:prstGeom>
          <a:noFill/>
          <a:ln w="12700">
            <a:solidFill>
              <a:srgbClr val="2A60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25968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사례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85232" y="28803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조면기·풍차 — 기술 자체가 아니라 제도·권력이 결과를 결정.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3383280"/>
            <a:ext cx="8449056" cy="1298448"/>
          </a:xfrm>
          <a:prstGeom prst="rect">
            <a:avLst/>
          </a:prstGeom>
          <a:solidFill>
            <a:srgbClr val="0D1E30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19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소크라테스 세미나 토론 질문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37398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아세모글루는 '기술 발전이 자동으로 번영을 가져다준다는 믿음'을 왜 위험하다고 보는가?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0142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한국 사회에서 '기술 발전 = 진보'라는 믿음이 가장 강하게 작동하는 영역은 어디인가?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2885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초등학교 실과 교과서에서 기술을 어떤 관점으로 서술하고 있는가? 비판적 관점이 있는가?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 |  프롤로그 + 1장  |  강의 슬라이드 총 22장  |  기술과 사회적 선택의 역사 — 청주교육대학교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강의 슬라이드 — 기술 발전 = 진보라는 신화</dc:title>
  <dc:subject>PptxGenJS Presentation</dc:subject>
  <dc:creator>PptxGenJS</dc:creator>
  <cp:lastModifiedBy>PptxGenJS</cp:lastModifiedBy>
  <cp:revision>1</cp:revision>
  <dcterms:created xsi:type="dcterms:W3CDTF">2026-02-18T15:27:49Z</dcterms:created>
  <dcterms:modified xsi:type="dcterms:W3CDTF">2026-02-18T15:27:49Z</dcterms:modified>
</cp:coreProperties>
</file>